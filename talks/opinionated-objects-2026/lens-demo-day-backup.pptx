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9e3a28b01f410d" /><Relationship Type="http://schemas.openxmlformats.org/officeDocument/2006/relationships/extended-properties" Target="/docProps/app.xml" Id="R4fc7d044c0da4015" /><Relationship Type="http://schemas.openxmlformats.org/officeDocument/2006/relationships/officeDocument" Target="/ppt/presentation.xml" Id="R6ec67b7df90040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46f726f488480a"/>
  </p:sldMasterIdLst>
  <p:notesMasterIdLst>
    <p:notesMasterId xmlns:r="http://schemas.openxmlformats.org/officeDocument/2006/relationships" r:id="R65e18b5dc548465b"/>
  </p:notesMasterIdLst>
  <p:sldIdLst>
    <p:sldId xmlns:r="http://schemas.openxmlformats.org/officeDocument/2006/relationships" id="256" r:id="R50444ddfa7f34b16"/>
    <p:sldId xmlns:r="http://schemas.openxmlformats.org/officeDocument/2006/relationships" id="257" r:id="R9ef5d06b6c4642c8"/>
    <p:sldId xmlns:r="http://schemas.openxmlformats.org/officeDocument/2006/relationships" id="258" r:id="R45bf6a2e502844ed"/>
    <p:sldId xmlns:r="http://schemas.openxmlformats.org/officeDocument/2006/relationships" id="259" r:id="R4234e143d71c492a"/>
    <p:sldId xmlns:r="http://schemas.openxmlformats.org/officeDocument/2006/relationships" id="260" r:id="Rfc32e346ab764b83"/>
    <p:sldId xmlns:r="http://schemas.openxmlformats.org/officeDocument/2006/relationships" id="261" r:id="R36ad9d86e9fc40e1"/>
    <p:sldId xmlns:r="http://schemas.openxmlformats.org/officeDocument/2006/relationships" id="262" r:id="Rf63e03af56e8449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afd6f7de754f29" /><Relationship Type="http://schemas.openxmlformats.org/officeDocument/2006/relationships/slideMaster" Target="/ppt/slideMasters/slideMaster1.xml" Id="Ref46f726f488480a" /><Relationship Type="http://schemas.openxmlformats.org/officeDocument/2006/relationships/notesMaster" Target="/ppt/notesMasters/notesMaster1.xml" Id="R65e18b5dc548465b" /><Relationship Type="http://schemas.openxmlformats.org/officeDocument/2006/relationships/presProps" Target="/ppt/presProps.xml" Id="R3015e4bb0a7c4104" /><Relationship Type="http://schemas.openxmlformats.org/officeDocument/2006/relationships/tableStyles" Target="/ppt/tableStyles.xml" Id="R31f959c0448c4f1d" /><Relationship Type="http://schemas.openxmlformats.org/officeDocument/2006/relationships/slide" Target="/ppt/slides/slide1.xml" Id="R50444ddfa7f34b16" /><Relationship Type="http://schemas.openxmlformats.org/officeDocument/2006/relationships/slide" Target="/ppt/slides/slide2.xml" Id="R9ef5d06b6c4642c8" /><Relationship Type="http://schemas.openxmlformats.org/officeDocument/2006/relationships/slide" Target="/ppt/slides/slide3.xml" Id="R45bf6a2e502844ed" /><Relationship Type="http://schemas.openxmlformats.org/officeDocument/2006/relationships/slide" Target="/ppt/slides/slide4.xml" Id="R4234e143d71c492a" /><Relationship Type="http://schemas.openxmlformats.org/officeDocument/2006/relationships/slide" Target="/ppt/slides/slide5.xml" Id="Rfc32e346ab764b83" /><Relationship Type="http://schemas.openxmlformats.org/officeDocument/2006/relationships/slide" Target="/ppt/slides/slide6.xml" Id="R36ad9d86e9fc40e1" /><Relationship Type="http://schemas.openxmlformats.org/officeDocument/2006/relationships/slide" Target="/ppt/slides/slide7.xml" Id="Rf63e03af56e844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f599bc8efe4a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72d1d3eff549ed" /><Relationship Type="http://schemas.openxmlformats.org/officeDocument/2006/relationships/notesMaster" Target="/ppt/notesMasters/notesMaster1.xml" Id="Rdc70d4dfaedd48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21b688ec1242bc" /><Relationship Type="http://schemas.openxmlformats.org/officeDocument/2006/relationships/notesMaster" Target="/ppt/notesMasters/notesMaster1.xml" Id="R8de41942821e4d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6647b9fc3c4bf2" /><Relationship Type="http://schemas.openxmlformats.org/officeDocument/2006/relationships/notesMaster" Target="/ppt/notesMasters/notesMaster1.xml" Id="R912b48d434c247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0ad51aef854b77" /><Relationship Type="http://schemas.openxmlformats.org/officeDocument/2006/relationships/notesMaster" Target="/ppt/notesMasters/notesMaster1.xml" Id="Rc76ceb1e19214d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bd40e0e49d4427" /><Relationship Type="http://schemas.openxmlformats.org/officeDocument/2006/relationships/notesMaster" Target="/ppt/notesMasters/notesMaster1.xml" Id="R641c606c49ad46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783611c82f42a4" /><Relationship Type="http://schemas.openxmlformats.org/officeDocument/2006/relationships/notesMaster" Target="/ppt/notesMasters/notesMaster1.xml" Id="Ra5a21d4ef39746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25b6f5c07f43b5" /><Relationship Type="http://schemas.openxmlformats.org/officeDocument/2006/relationships/notesMaster" Target="/ppt/notesMasters/notesMaster1.xml" Id="R710a1eddd3cc47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0:00–0:35</a:t>
            </a:r>
          </a:p>
          <a:p xmlns:a="http://schemas.openxmlformats.org/drawingml/2006/main">
            <a:r>
              <a:t>Open with the claim, then make it concrete: a page is simultaneously a visual object and a machine-readable object.</a:t>
            </a:r>
          </a:p>
          <a:p xmlns:a="http://schemas.openxmlformats.org/drawingml/2006/main">
            <a:r>
              <a:t>Lens is an opinionated object because it takes a side: machine access should be explicit, inspectable, and attributable.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https://aadhar.sh/lens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0:35–1:05</a:t>
            </a:r>
          </a:p>
          <a:p xmlns:a="http://schemas.openxmlformats.org/drawingml/2006/main">
            <a:r>
              <a:t>Ask for exactly one site. Repeat the URL aloud while entering it.</a:t>
            </a:r>
          </a:p>
          <a:p xmlns:a="http://schemas.openxmlformats.org/drawingml/2006/main">
            <a:r>
              <a:t>Do not apologize if it blocks framing, bots, or rendering. Say: refusal is evidence too.</a:t>
            </a:r>
          </a:p>
          <a:p xmlns:a="http://schemas.openxmlformats.org/drawingml/2006/main">
            <a:r>
              <a:t>If the room stalls, use aadhar.sh. If network or live execution fails, continue to the next slide without explaining the machinery.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https://aadhar.sh/lens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1:05–2:10</a:t>
            </a:r>
          </a:p>
          <a:p xmlns:a="http://schemas.openxmlformats.org/drawingml/2006/main">
            <a:r>
              <a:t>This is the live-demo backup frame. Point left to right: what a person sees, what an identified HTTP client receives, and what survives after JavaScript runs.</a:t>
            </a:r>
          </a:p>
          <a:p xmlns:a="http://schemas.openxmlformats.org/drawingml/2006/main">
            <a:r>
              <a:t>Ask the audience to predict whether the machine version is smaller, cleaner, or more permissive before revealing the panes.</a:t>
            </a:r>
          </a:p>
          <a:p xmlns:a="http://schemas.openxmlformats.org/drawingml/2006/main">
            <a:r>
              <a:t>The point is not that one renderer is correct. The disagreement is the object.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https://aadhar.sh/lens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2:10–3:00</a:t>
            </a:r>
          </a:p>
          <a:p xmlns:a="http://schemas.openxmlformats.org/drawingml/2006/main">
            <a:r>
              <a:t>The early semantic-web wager was that publishers could describe meaning in machine-readable form.</a:t>
            </a:r>
          </a:p>
          <a:p xmlns:a="http://schemas.openxmlformats.org/drawingml/2006/main">
            <a:r>
              <a:t>The current agent web often recovers meaning after the fact from interfaces built for eyes.</a:t>
            </a:r>
          </a:p>
          <a:p xmlns:a="http://schemas.openxmlformats.org/drawingml/2006/main">
            <a:r>
              <a:t>The future question is more demanding: what may a machine do, for whom, under which terms, and with what proof?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https://www.w3.org/2001/sw/</a:t>
            </a:r>
          </a:p>
          <a:p xmlns:a="http://schemas.openxmlformats.org/drawingml/2006/main">
            <a:r>
              <a:t>- https://blog.cloudflare.com/agent-readiness/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3:00–4:15</a:t>
            </a:r>
          </a:p>
          <a:p xmlns:a="http://schemas.openxmlformats.org/drawingml/2006/main">
            <a:r>
              <a:t>This is the criticism-preemption slide. The Cloudflare score is one input, not the product.</a:t>
            </a:r>
          </a:p>
          <a:p xmlns:a="http://schemas.openxmlformats.org/drawingml/2006/main">
            <a:r>
              <a:t>Lens adds an observed field score, and Defuddle provides an independent extraction whose output Lens evaluates with four published binary checks.</a:t>
            </a:r>
          </a:p>
          <a:p xmlns:a="http://schemas.openxmlformats.org/drawingml/2006/main">
            <a:r>
              <a:t>Each source gets exactly one third. If any source fails, the result says unfinished instead of silently moving the goalposts.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https://blog.cloudflare.com/agent-readiness/</a:t>
            </a:r>
          </a:p>
          <a:p xmlns:a="http://schemas.openxmlformats.org/drawingml/2006/main">
            <a:r>
              <a:t>- https://isitagentready.com/</a:t>
            </a:r>
          </a:p>
          <a:p xmlns:a="http://schemas.openxmlformats.org/drawingml/2006/main">
            <a:r>
              <a:t>- https://github.com/kepano/defuddle</a:t>
            </a:r>
          </a:p>
          <a:p xmlns:a="http://schemas.openxmlformats.org/drawingml/2006/main">
            <a:r>
              <a:t>- https://aadhar.sh/lens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4:15–5:10</a:t>
            </a:r>
          </a:p>
          <a:p xmlns:a="http://schemas.openxmlformats.org/drawingml/2006/main">
            <a:r>
              <a:t>Cloudflare measures declared readiness. Lens measures observed behavior. Defuddle gives us a separate content-recovery result.</a:t>
            </a:r>
          </a:p>
          <a:p xmlns:a="http://schemas.openxmlformats.org/drawingml/2006/main">
            <a:r>
              <a:t>A disagreement is more interesting than a perfect score: it tells the publisher where standards, enforcement, and actual legibility diverge.</a:t>
            </a:r>
          </a:p>
          <a:p xmlns:a="http://schemas.openxmlformats.org/drawingml/2006/main">
            <a:r>
              <a:t>The aggregate is a summary. Every component remains visible and falsifiable below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https://blog.cloudflare.com/agent-readiness/</a:t>
            </a:r>
          </a:p>
          <a:p xmlns:a="http://schemas.openxmlformats.org/drawingml/2006/main">
            <a:r>
              <a:t>- https://github.com/kepano/defuddle</a:t>
            </a:r>
          </a:p>
          <a:p xmlns:a="http://schemas.openxmlformats.org/drawingml/2006/main">
            <a:r>
              <a:t>- https://aadhar.sh/lens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5:10–6:00</a:t>
            </a:r>
          </a:p>
          <a:p xmlns:a="http://schemas.openxmlformats.org/drawingml/2006/main">
            <a:r>
              <a:t>Return to the event prompt: this object expresses a view from somewhere. It believes access should be explicit, evidence-backed, and legible to both sides.</a:t>
            </a:r>
          </a:p>
          <a:p xmlns:a="http://schemas.openxmlformats.org/drawingml/2006/main">
            <a:r>
              <a:t>Invite questions about the score, the fetch identity, refusal as evidence, or what publishers might expose next.</a:t>
            </a:r>
          </a:p>
          <a:p xmlns:a="http://schemas.openxmlformats.org/drawingml/2006/main">
            <a:r>
              <a:t>If the live site failed, end here without apology: the static proof has already shown the interaction and the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https://aadhar.sh/lens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3fb82b557641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95c5a4cdb44726" /><Relationship Type="http://schemas.openxmlformats.org/officeDocument/2006/relationships/slideLayout" Target="/ppt/slideLayouts/slideLayout1.xml" Id="R4d1c7171390347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1c7171390347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c1ed76b0145a4" /><Relationship Type="http://schemas.openxmlformats.org/officeDocument/2006/relationships/notesSlide" Target="/ppt/notesSlides/notesSlide1.xml" Id="Re73bcd22c43c45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3ad95517a4dcb" /><Relationship Type="http://schemas.openxmlformats.org/officeDocument/2006/relationships/notesSlide" Target="/ppt/notesSlides/notesSlide2.xml" Id="Rd451c908376649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60ca5f3f64305" /><Relationship Type="http://schemas.openxmlformats.org/officeDocument/2006/relationships/image" Target="/ppt/media/image.jpeg" Id="Rd54b4beb52b743db" /><Relationship Type="http://schemas.openxmlformats.org/officeDocument/2006/relationships/notesSlide" Target="/ppt/notesSlides/notesSlide3.xml" Id="R7781e41dcf0a4a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833b5974e492f" /><Relationship Type="http://schemas.openxmlformats.org/officeDocument/2006/relationships/notesSlide" Target="/ppt/notesSlides/notesSlide4.xml" Id="R00c58eaa3f9144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8335b28314a44" /><Relationship Type="http://schemas.openxmlformats.org/officeDocument/2006/relationships/image" Target="/ppt/media/image2.jpeg" Id="R3ed352adc4564982" /><Relationship Type="http://schemas.openxmlformats.org/officeDocument/2006/relationships/notesSlide" Target="/ppt/notesSlides/notesSlide5.xml" Id="R014aea841d994c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d35062765495f" /><Relationship Type="http://schemas.openxmlformats.org/officeDocument/2006/relationships/notesSlide" Target="/ppt/notesSlides/notesSlide6.xml" Id="R9889ae1ab68f41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15ed5348e4e23" /><Relationship Type="http://schemas.openxmlformats.org/officeDocument/2006/relationships/notesSlide" Target="/ppt/notesSlides/notesSlide7.xml" Id="Rd62a0d90187240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0ACA03-68C6-4E05-A8A4-4BBC9BF5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A6E3"/>
          </a:solidFill>
          <a:ln xmlns:a="http://schemas.openxmlformats.org/drawingml/2006/main" w="0">
            <a:solidFill>
              <a:srgbClr val="6DA6E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BA6D74-BDB9-4F9B-8BA0-C1DFD873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12192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DF7"/>
          </a:solidFill>
          <a:ln xmlns:a="http://schemas.openxmlformats.org/drawingml/2006/main" w="0">
            <a:solidFill>
              <a:srgbClr val="D9ED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9D1F59-37EB-4209-A67F-C1380F4D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947"/>
          </a:solidFill>
          <a:ln xmlns:a="http://schemas.openxmlformats.org/drawingml/2006/main" w="0">
            <a:solidFill>
              <a:srgbClr val="55A94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117A7-5D82-425B-A051-17C04263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33350"/>
            <a:ext cx="11830050" cy="6381750"/>
          </a:xfrm>
          <a:prstGeom xmlns:a="http://schemas.openxmlformats.org/drawingml/2006/main" prst="roundRect">
            <a:avLst>
              <a:gd name="adj" fmla="val 896"/>
            </a:avLst>
          </a:prstGeom>
          <a:solidFill xmlns:a="http://schemas.openxmlformats.org/drawingml/2006/main">
            <a:srgbClr val="315C91"/>
          </a:solidFill>
          <a:ln xmlns:a="http://schemas.openxmlformats.org/drawingml/2006/main" w="0">
            <a:solidFill>
              <a:srgbClr val="315C9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BDA66-A4A8-4516-9FAB-B3AF9BB2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76200"/>
            <a:ext cx="11849100" cy="6419850"/>
          </a:xfrm>
          <a:prstGeom xmlns:a="http://schemas.openxmlformats.org/drawingml/2006/main" prst="roundRect">
            <a:avLst>
              <a:gd name="adj" fmla="val 890"/>
            </a:avLst>
          </a:prstGeom>
          <a:solidFill xmlns:a="http://schemas.openxmlformats.org/drawingml/2006/main">
            <a:srgbClr val="001EA0"/>
          </a:solidFill>
          <a:ln xmlns:a="http://schemas.openxmlformats.org/drawingml/2006/main" w="9525">
            <a:solidFill>
              <a:srgbClr val="001EA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E3A4B0-A3CA-43CF-BBCD-08269ABF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" y="104775"/>
            <a:ext cx="11791950" cy="6362700"/>
          </a:xfrm>
          <a:prstGeom xmlns:a="http://schemas.openxmlformats.org/drawingml/2006/main" prst="roundRect">
            <a:avLst>
              <a:gd name="adj" fmla="val 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95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D0B415-0631-448B-B961-7EC182FA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123825"/>
            <a:ext cx="117538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54E3"/>
          </a:solidFill>
          <a:ln xmlns:a="http://schemas.openxmlformats.org/drawingml/2006/main" w="0">
            <a:solidFill>
              <a:srgbClr val="0054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DA9BE-1A72-49B8-82F8-0E522327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117157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0">
            <a:solidFill>
              <a:srgbClr val="3D95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667B5-B824-40FA-871F-2B5E679A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90500"/>
            <a:ext cx="1171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EE"/>
          </a:solidFill>
          <a:ln xmlns:a="http://schemas.openxmlformats.org/drawingml/2006/main" w="0">
            <a:solidFill>
              <a:srgbClr val="176A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28570A-9FC9-4D1A-A1C9-77FFBF75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400050"/>
            <a:ext cx="1171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2"/>
          </a:solidFill>
          <a:ln xmlns:a="http://schemas.openxmlformats.org/drawingml/2006/main" w="0">
            <a:solidFill>
              <a:srgbClr val="2E7C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5AC7B-4CEF-4CB7-BD9D-C4A84A85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47675"/>
            <a:ext cx="11753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ACA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2D834-16BF-4AD8-9BBB-20CDDBD7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D3FED-6AA4-4FB0-8953-2F6C9E9F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26B377-22D0-4238-8856-E9DFA2CB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78E06-4CC1-435E-BEFB-FECC7EA8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DE34B4-0D8D-4DDC-9231-1004B445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188F3-5C2B-483F-961F-B8E39604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666750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275D81-C01D-4DCD-8197-3865E395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950B5E-AA9D-4EEB-B456-52155D4D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523875"/>
            <a:ext cx="590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Address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200427-DB72-4840-9C28-F80AC10C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"/>
            <a:ext cx="1143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9525">
            <a:solidFill>
              <a:srgbClr val="0054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9005C-7F6E-41B2-98B2-3D64D42B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"/>
            <a:ext cx="96964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aadhar.sh  ›  lens  ›  slides  ›  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9CC7D-6BA1-4AED-AD7F-EE9AF128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85775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9F1D06-961A-4C1A-A6AB-40C249C3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5A38AA-573E-4CE9-92F9-DE7E0950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CE6E91-0323-4B46-9BB8-951E0459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76275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83D134-7054-473D-BC3A-F23C983E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65700F-1D11-4432-B239-27C262A7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14350"/>
            <a:ext cx="666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181818"/>
                </a:solidFill>
                <a:latin typeface="Tahoma"/>
                <a:ea typeface="Tahoma"/>
                <a:cs typeface="Tahoma"/>
              </a:rPr>
              <a:t>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D30E21-93CE-4A61-9680-F5E0F1F5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733425"/>
            <a:ext cx="11734800" cy="5705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59B3E0-4E48-47CE-BCD0-90C6AEC0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000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9A33"/>
          </a:solidFill>
          <a:ln xmlns:a="http://schemas.openxmlformats.org/drawingml/2006/main" w="9525">
            <a:solidFill>
              <a:srgbClr val="8F4E1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E3DE98-0BC4-4688-91E2-D8776BC1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9A"/>
          </a:solidFill>
          <a:ln xmlns:a="http://schemas.openxmlformats.org/drawingml/2006/main" w="0">
            <a:solidFill>
              <a:srgbClr val="FFE2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326D2E-CB23-4712-ACAC-3BB2AAF2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876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OPINIONATED OBJECTS · AADHAR.SH/LENS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1AC55D-DABE-4AD8-B867-AAC93AEF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05CD0B-51C3-43C8-A3E9-5B0691BE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71D449-772B-48F0-85E9-2B5FEB7B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D7A1E1-CBF8-4A8E-A7B3-4ECC3884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D6C949-5935-4CF5-AA9A-530EEB34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50BB82-A820-4C03-860F-510872F4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4C2CFA-32D0-41A8-B6FF-0BFB5FDC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45F3E"/>
          </a:solidFill>
          <a:ln xmlns:a="http://schemas.openxmlformats.org/drawingml/2006/main" w="9525">
            <a:solidFill>
              <a:srgbClr val="AE311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10A903-05D6-4554-82A4-6B665C7E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5F"/>
          </a:solidFill>
          <a:ln xmlns:a="http://schemas.openxmlformats.org/drawingml/2006/main" w="0">
            <a:solidFill>
              <a:srgbClr val="E879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4D4E9A-4D31-410C-A3BC-373F7573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61925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0C177-545F-4851-A5D3-632AAEC1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EDC"/>
          </a:solidFill>
          <a:ln xmlns:a="http://schemas.openxmlformats.org/drawingml/2006/main" w="0">
            <a:solidFill>
              <a:srgbClr val="245ED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7A8CE-515A-4039-9305-B32F6EF3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4F3"/>
          </a:solidFill>
          <a:ln xmlns:a="http://schemas.openxmlformats.org/drawingml/2006/main" w="0">
            <a:solidFill>
              <a:srgbClr val="6EA4F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F8E6AA-BB4C-4641-887B-3E413D9C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047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C9A36"/>
          </a:solidFill>
          <a:ln xmlns:a="http://schemas.openxmlformats.org/drawingml/2006/main" w="9525">
            <a:solidFill>
              <a:srgbClr val="1C6E2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E9AC0C-3E77-473E-B6FB-CCF18A02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6103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start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F1C9476-9E7A-4761-81DE-0D32F646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591300"/>
            <a:ext cx="1657350" cy="2381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F7DE5"/>
          </a:solidFill>
          <a:ln xmlns:a="http://schemas.openxmlformats.org/drawingml/2006/main" w="9525">
            <a:solidFill>
              <a:srgbClr val="174EB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710C6D-6916-4EAF-A18B-6C372FD9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629400"/>
            <a:ext cx="1428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▣  lens — demo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65329B-F812-4CC6-BF10-B2797A91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29400"/>
            <a:ext cx="7239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 / 07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31AF635-1C14-401F-BF7D-0D5B3699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78105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51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51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Every page has</a:t>
            </a:r>
          </a:p>
          <a:p xmlns:a="http://schemas.openxmlformats.org/drawingml/2006/main">
            <a:pPr>
              <a:lnSpc>
                <a:spcPct val="95000"/>
              </a:lnSpc>
              <a:buNone/>
              <a:defRPr sz="51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51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two audiences.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E49D5D4-D39A-4CF9-A24B-76A8D5ADC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818"/>
          </a:solidFill>
          <a:ln xmlns:a="http://schemas.openxmlformats.org/drawingml/2006/main" w="0">
            <a:solidFill>
              <a:srgbClr val="1818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D21855-F7D9-4289-8D2D-7607ACC4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44767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2100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2100">
                <a:solidFill>
                  <a:srgbClr val="003399"/>
                </a:solidFill>
                <a:latin typeface="Tahoma"/>
                <a:ea typeface="Tahoma"/>
                <a:cs typeface="Tahoma"/>
              </a:rPr>
              <a:t>the person looking at it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B999997-30A1-4443-B318-03ACA5F2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00500"/>
            <a:ext cx="5810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2100">
                <a:solidFill>
                  <a:srgbClr val="087C8C"/>
                </a:solidFill>
                <a:latin typeface="Tahoma"/>
                <a:ea typeface="Tahoma"/>
                <a:cs typeface="Tahoma"/>
              </a:defRPr>
            </a:pPr>
            <a:r>
              <a:rPr sz="2100">
                <a:solidFill>
                  <a:srgbClr val="087C8C"/>
                </a:solidFill>
                <a:latin typeface="Tahoma"/>
                <a:ea typeface="Tahoma"/>
                <a:cs typeface="Tahoma"/>
              </a:rPr>
              <a:t>the machine reading over their shoulder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D0936F5-F076-49CE-AB41-D6D9786F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76200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225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Lens makes the disagreement visible.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349248B-45B8-4870-9E89-710B76D2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19750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900">
                <a:solidFill>
                  <a:srgbClr val="5A5A5A"/>
                </a:solidFill>
                <a:latin typeface="Tahoma"/>
                <a:ea typeface="Tahoma"/>
                <a:cs typeface="Tahoma"/>
              </a:rPr>
              <a:t>6 MINUTES · LIVE + OFFLINE BACKUP</a:t>
            </a:r>
          </a:p>
        </p:txBody>
      </p:sp>
    </p:spTree>
    <p:extLst>
      <p:ext uri="{BB962C8B-B14F-4D97-AF65-F5344CB8AC3E}">
        <p14:creationId xmlns:p14="http://schemas.microsoft.com/office/powerpoint/2010/main" val="11358522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9B138E7-B4A1-4EC3-BB20-DA665151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A6E3"/>
          </a:solidFill>
          <a:ln xmlns:a="http://schemas.openxmlformats.org/drawingml/2006/main" w="0">
            <a:solidFill>
              <a:srgbClr val="6DA6E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DB38B-AFC6-4574-BD50-A03EB9DF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12192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DF7"/>
          </a:solidFill>
          <a:ln xmlns:a="http://schemas.openxmlformats.org/drawingml/2006/main" w="0">
            <a:solidFill>
              <a:srgbClr val="D9ED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8B9F2-06DC-4178-BD1F-6BCD5FDE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947"/>
          </a:solidFill>
          <a:ln xmlns:a="http://schemas.openxmlformats.org/drawingml/2006/main" w="0">
            <a:solidFill>
              <a:srgbClr val="55A94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91CEA1-9736-436B-9081-C0B21A38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33350"/>
            <a:ext cx="11830050" cy="6381750"/>
          </a:xfrm>
          <a:prstGeom xmlns:a="http://schemas.openxmlformats.org/drawingml/2006/main" prst="roundRect">
            <a:avLst>
              <a:gd name="adj" fmla="val 896"/>
            </a:avLst>
          </a:prstGeom>
          <a:solidFill xmlns:a="http://schemas.openxmlformats.org/drawingml/2006/main">
            <a:srgbClr val="315C91"/>
          </a:solidFill>
          <a:ln xmlns:a="http://schemas.openxmlformats.org/drawingml/2006/main" w="0">
            <a:solidFill>
              <a:srgbClr val="315C9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ED71DD-DF58-424F-B399-B08D5E64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76200"/>
            <a:ext cx="11849100" cy="6419850"/>
          </a:xfrm>
          <a:prstGeom xmlns:a="http://schemas.openxmlformats.org/drawingml/2006/main" prst="roundRect">
            <a:avLst>
              <a:gd name="adj" fmla="val 890"/>
            </a:avLst>
          </a:prstGeom>
          <a:solidFill xmlns:a="http://schemas.openxmlformats.org/drawingml/2006/main">
            <a:srgbClr val="001EA0"/>
          </a:solidFill>
          <a:ln xmlns:a="http://schemas.openxmlformats.org/drawingml/2006/main" w="9525">
            <a:solidFill>
              <a:srgbClr val="001EA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3AAE2-04F2-4480-B9B2-47A9EF0E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" y="104775"/>
            <a:ext cx="11791950" cy="6362700"/>
          </a:xfrm>
          <a:prstGeom xmlns:a="http://schemas.openxmlformats.org/drawingml/2006/main" prst="roundRect">
            <a:avLst>
              <a:gd name="adj" fmla="val 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95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7D6DE4-DBE9-461C-BC8D-EB59B1B1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123825"/>
            <a:ext cx="117538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54E3"/>
          </a:solidFill>
          <a:ln xmlns:a="http://schemas.openxmlformats.org/drawingml/2006/main" w="0">
            <a:solidFill>
              <a:srgbClr val="0054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A99BDA-EF74-4DC7-8CA0-A14D974A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117157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0">
            <a:solidFill>
              <a:srgbClr val="3D95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12E91D-AC33-440B-AC77-1A8B2DCD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90500"/>
            <a:ext cx="1171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EE"/>
          </a:solidFill>
          <a:ln xmlns:a="http://schemas.openxmlformats.org/drawingml/2006/main" w="0">
            <a:solidFill>
              <a:srgbClr val="176A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CFAD9-03C9-4020-BBD4-C1D6B861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400050"/>
            <a:ext cx="1171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2"/>
          </a:solidFill>
          <a:ln xmlns:a="http://schemas.openxmlformats.org/drawingml/2006/main" w="0">
            <a:solidFill>
              <a:srgbClr val="2E7C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3C8B8-6AB9-4876-9B93-6E63128E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47675"/>
            <a:ext cx="11753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ACA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CA7CD-4C41-4CC9-A2DE-3AE3288F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8684BD-8407-4BE9-A540-23982E41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3AB1F-5776-484D-8127-D0795920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F05EF-12D8-4EEE-ACEF-81869ABE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1B04B7-9A52-4B71-BFC1-50B155FD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019ADC-23C5-461B-A981-E2830469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666750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7F1911-08E9-41FA-8A04-8E5D5E0F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10C14-FA78-49C5-B6DE-38E0876F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523875"/>
            <a:ext cx="590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Address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EF3D54-9779-484E-A0AF-AAADF853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"/>
            <a:ext cx="1143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9525">
            <a:solidFill>
              <a:srgbClr val="0054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79845A-BF41-43AB-BB44-7417AC19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"/>
            <a:ext cx="96964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aadhar.sh  ›  lens  ›  slides  ›  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28363D-4BDE-4D79-A97C-2642D6CA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85775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29674D-E750-4ACC-922B-4CC38995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22D67F-FCC4-43DC-87EB-8D3C3D83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A384D9-0DC4-482D-AE13-B4B790B5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76275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45B972-AC28-4F46-97C0-BA607712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EE0608-A6F9-4812-8F73-5D732974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14350"/>
            <a:ext cx="666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181818"/>
                </a:solidFill>
                <a:latin typeface="Tahoma"/>
                <a:ea typeface="Tahoma"/>
                <a:cs typeface="Tahoma"/>
              </a:rPr>
              <a:t>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549DB6-5880-4584-BCE0-6E4EDD00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733425"/>
            <a:ext cx="11734800" cy="5705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30B3DB-2317-4B7C-B7F5-AB9BB406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000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9A33"/>
          </a:solidFill>
          <a:ln xmlns:a="http://schemas.openxmlformats.org/drawingml/2006/main" w="9525">
            <a:solidFill>
              <a:srgbClr val="8F4E1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0DA845-E491-4B0D-BF0F-9E172090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9A"/>
          </a:solidFill>
          <a:ln xmlns:a="http://schemas.openxmlformats.org/drawingml/2006/main" w="0">
            <a:solidFill>
              <a:srgbClr val="FFE2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6BC3F5-2B0F-4102-946F-53981FFC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876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The Other Web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EA216A-467D-4B48-B08F-00ED603C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FE9F62-967F-4051-9977-B5827CF1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D2A83A-50AB-40FC-B9F4-16E39070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32F5AB-8C5F-46DA-9D82-B964B9C6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92B04D-01A7-40FB-8D4B-CFFCE34C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B409C3-9753-460A-AF8C-F4F085AC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931DBA-28AC-4392-A74F-DF4673A4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45F3E"/>
          </a:solidFill>
          <a:ln xmlns:a="http://schemas.openxmlformats.org/drawingml/2006/main" w="9525">
            <a:solidFill>
              <a:srgbClr val="AE311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FA25900-1DFE-4D5C-A83E-BADA9D63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5F"/>
          </a:solidFill>
          <a:ln xmlns:a="http://schemas.openxmlformats.org/drawingml/2006/main" w="0">
            <a:solidFill>
              <a:srgbClr val="E879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5A6246-54D9-4F35-8DC0-C63BD205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61925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0161BB-A59A-4D64-B6C8-C68B2D27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EDC"/>
          </a:solidFill>
          <a:ln xmlns:a="http://schemas.openxmlformats.org/drawingml/2006/main" w="0">
            <a:solidFill>
              <a:srgbClr val="245ED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06BB79B-52CD-4814-8429-CF880A81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4F3"/>
          </a:solidFill>
          <a:ln xmlns:a="http://schemas.openxmlformats.org/drawingml/2006/main" w="0">
            <a:solidFill>
              <a:srgbClr val="6EA4F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FCCC34-2D0C-4399-ADAA-B78DFA68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047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C9A36"/>
          </a:solidFill>
          <a:ln xmlns:a="http://schemas.openxmlformats.org/drawingml/2006/main" w="9525">
            <a:solidFill>
              <a:srgbClr val="1C6E2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91B9C7-96AF-471E-A9D1-E2ACE45E1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6103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start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76B6CF-309B-42C2-B472-F0A8F639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591300"/>
            <a:ext cx="1657350" cy="2381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F7DE5"/>
          </a:solidFill>
          <a:ln xmlns:a="http://schemas.openxmlformats.org/drawingml/2006/main" w="9525">
            <a:solidFill>
              <a:srgbClr val="174EB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BA706B-CF42-425E-8195-DCAF15FF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629400"/>
            <a:ext cx="1428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▣  lens — demo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C84987-A3CA-4787-8E3B-15484D2D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29400"/>
            <a:ext cx="7239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 / 07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3791BB-C982-46E6-8D92-9F31796A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52500"/>
            <a:ext cx="876300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465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465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Give me a website.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BB30C0B-E85E-43CE-B5F3-5EE447A4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7620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2100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2100">
                <a:solidFill>
                  <a:srgbClr val="5A5A5A"/>
                </a:solidFill>
                <a:latin typeface="Tahoma"/>
                <a:ea typeface="Tahoma"/>
                <a:cs typeface="Tahoma"/>
              </a:rPr>
              <a:t>One you actually use.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3EDC0BC-8C52-46E3-88A4-35EB6C54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1104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4E75C22-EA3D-4679-88F4-EEFFDE30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B99AC36-2266-4F7B-926A-D8DEB65C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E4BA1C9-C0FE-4283-BCBB-F0D4F55A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867025"/>
            <a:ext cx="1102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3624B17-B34D-4391-B139-EAA2AB82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867025"/>
            <a:ext cx="95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FE5DFF3-4D1C-4BAE-9598-C12F9B42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676650"/>
            <a:ext cx="1102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1DC8D7-E9AA-494D-8F10-5439CEE3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867025"/>
            <a:ext cx="95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2CA84D-5A9A-4155-BEA3-F42F8FEE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05150"/>
            <a:ext cx="1333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875">
                <a:solidFill>
                  <a:srgbClr val="5A5A5A"/>
                </a:solidFill>
                <a:latin typeface="Courier New"/>
                <a:ea typeface="Courier New"/>
                <a:cs typeface="Courier New"/>
              </a:defRPr>
            </a:pPr>
            <a:r>
              <a:rPr sz="1875">
                <a:solidFill>
                  <a:srgbClr val="5A5A5A"/>
                </a:solidFill>
                <a:latin typeface="Courier New"/>
                <a:ea typeface="Courier New"/>
                <a:cs typeface="Courier New"/>
              </a:rPr>
              <a:t>https://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731E16-729C-4A92-9801-DC7DCE60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05150"/>
            <a:ext cx="7429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875">
                <a:solidFill>
                  <a:srgbClr val="181818"/>
                </a:solidFill>
                <a:latin typeface="Courier New"/>
                <a:ea typeface="Courier New"/>
                <a:cs typeface="Courier New"/>
              </a:defRPr>
            </a:pPr>
            <a:r>
              <a:rPr sz="1875">
                <a:solidFill>
                  <a:srgbClr val="181818"/>
                </a:solidFill>
                <a:latin typeface="Courier New"/>
                <a:ea typeface="Courier New"/>
                <a:cs typeface="Courier New"/>
              </a:rPr>
              <a:t>your answer goes here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73F9F10-DFD6-44D3-AE2F-790CDB7A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00375"/>
            <a:ext cx="133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A8B2DF8-EE9F-4965-82DE-A669907B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009900"/>
            <a:ext cx="1314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2ACFC23-17B3-43FB-923D-811792CF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00990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9B8AC21-1235-4D6F-9ABE-E8B752AB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533775"/>
            <a:ext cx="1314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260A058-25B7-488D-9947-00B18066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00990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2817201-78CF-41A7-BDF7-28537D17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143250"/>
            <a:ext cx="1333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GO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3BAB6A9-F7FD-49AF-BDE2-DEDB3CE8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327046D-F5EF-4CCC-B173-C9D75FF2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105275"/>
            <a:ext cx="264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F4A615F-D297-4ACB-BE4E-0EBD4245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105275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A3757B1-FA94-4FA3-957D-0BEF1EDB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591050"/>
            <a:ext cx="264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33D9B4F-F261-4D8D-98C6-DC4900B2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05275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6BCB352-7C3D-4C9E-91FD-4F6F318B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2362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1275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 local publication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7396ECD-5540-4082-AA53-7B112162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957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3DF8C09-6838-477F-A982-EB64C815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105275"/>
            <a:ext cx="264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AE12B52-5CCA-4CE9-84DB-448CF462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105275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0DB75CE-5F2A-4A1A-B08E-C0DA2247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591050"/>
            <a:ext cx="264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58393FA-7369-4F4C-87DB-225620DE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05275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1B8975D-F6B4-4E68-9CCC-8A5B47C3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48150"/>
            <a:ext cx="2362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1275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 favorite blog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2221247-9A2C-48EB-835C-7F8DB663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363AC73-AE29-4DD9-B83D-C6ECBBAD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105275"/>
            <a:ext cx="264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4632122-0864-49D2-AE96-15DFD37F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105275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34E4CAA-DD41-4D82-A3D5-A2623357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591050"/>
            <a:ext cx="264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E6B7E0F-3B25-495D-BA18-1BE41A0A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05275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B115966-E6CA-4687-9EDB-BC553103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48150"/>
            <a:ext cx="2362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1275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 useful tool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EC559BD-7E7A-4806-B074-15C799C8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9334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225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If it refuses us, that is part of the measurement.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08395B2-DA2C-4E0A-8E59-29870CFA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0668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00">
                <a:solidFill>
                  <a:srgbClr val="5A5A5A"/>
                </a:solidFill>
                <a:latin typeface="Courier New"/>
                <a:ea typeface="Courier New"/>
                <a:cs typeface="Courier New"/>
              </a:defRPr>
            </a:pPr>
            <a:r>
              <a:rPr sz="900">
                <a:solidFill>
                  <a:srgbClr val="5A5A5A"/>
                </a:solidFill>
                <a:latin typeface="Courier New"/>
                <a:ea typeface="Courier New"/>
                <a:cs typeface="Courier New"/>
              </a:rPr>
              <a:t>BACKUPS: aadhar.sh · stripe.com · en.wikipedia.org/wiki/Semantic_Web</a:t>
            </a:r>
          </a:p>
        </p:txBody>
      </p:sp>
    </p:spTree>
    <p:extLst>
      <p:ext uri="{BB962C8B-B14F-4D97-AF65-F5344CB8AC3E}">
        <p14:creationId xmlns:p14="http://schemas.microsoft.com/office/powerpoint/2010/main" val="20604173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07D11FB-EAB9-48F8-AA2F-2B1D77DC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A6E3"/>
          </a:solidFill>
          <a:ln xmlns:a="http://schemas.openxmlformats.org/drawingml/2006/main" w="0">
            <a:solidFill>
              <a:srgbClr val="6DA6E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C08E7-3E57-448C-B041-7D96E0FC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12192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DF7"/>
          </a:solidFill>
          <a:ln xmlns:a="http://schemas.openxmlformats.org/drawingml/2006/main" w="0">
            <a:solidFill>
              <a:srgbClr val="D9ED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9BEDAE-8828-4349-A238-AE60F840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947"/>
          </a:solidFill>
          <a:ln xmlns:a="http://schemas.openxmlformats.org/drawingml/2006/main" w="0">
            <a:solidFill>
              <a:srgbClr val="55A94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9415E8-70C1-48B5-9F6A-FCCC06BA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33350"/>
            <a:ext cx="11830050" cy="6381750"/>
          </a:xfrm>
          <a:prstGeom xmlns:a="http://schemas.openxmlformats.org/drawingml/2006/main" prst="roundRect">
            <a:avLst>
              <a:gd name="adj" fmla="val 896"/>
            </a:avLst>
          </a:prstGeom>
          <a:solidFill xmlns:a="http://schemas.openxmlformats.org/drawingml/2006/main">
            <a:srgbClr val="315C91"/>
          </a:solidFill>
          <a:ln xmlns:a="http://schemas.openxmlformats.org/drawingml/2006/main" w="0">
            <a:solidFill>
              <a:srgbClr val="315C9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1918F-FB1E-4B30-90D1-A5A9985E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76200"/>
            <a:ext cx="11849100" cy="6419850"/>
          </a:xfrm>
          <a:prstGeom xmlns:a="http://schemas.openxmlformats.org/drawingml/2006/main" prst="roundRect">
            <a:avLst>
              <a:gd name="adj" fmla="val 890"/>
            </a:avLst>
          </a:prstGeom>
          <a:solidFill xmlns:a="http://schemas.openxmlformats.org/drawingml/2006/main">
            <a:srgbClr val="001EA0"/>
          </a:solidFill>
          <a:ln xmlns:a="http://schemas.openxmlformats.org/drawingml/2006/main" w="9525">
            <a:solidFill>
              <a:srgbClr val="001EA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67E4B-6216-46F7-B251-714B3CF4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" y="104775"/>
            <a:ext cx="11791950" cy="6362700"/>
          </a:xfrm>
          <a:prstGeom xmlns:a="http://schemas.openxmlformats.org/drawingml/2006/main" prst="roundRect">
            <a:avLst>
              <a:gd name="adj" fmla="val 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95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61AEF-C8DF-49F4-8A58-0FE20D19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123825"/>
            <a:ext cx="117538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54E3"/>
          </a:solidFill>
          <a:ln xmlns:a="http://schemas.openxmlformats.org/drawingml/2006/main" w="0">
            <a:solidFill>
              <a:srgbClr val="0054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3EBAB-1AEF-4F2C-8FD6-C9FB026E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117157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0">
            <a:solidFill>
              <a:srgbClr val="3D95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13C8B-3933-49EB-9BF0-3A45AEA3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90500"/>
            <a:ext cx="1171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EE"/>
          </a:solidFill>
          <a:ln xmlns:a="http://schemas.openxmlformats.org/drawingml/2006/main" w="0">
            <a:solidFill>
              <a:srgbClr val="176A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202D07-C3D0-4C34-914B-562CB222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400050"/>
            <a:ext cx="1171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2"/>
          </a:solidFill>
          <a:ln xmlns:a="http://schemas.openxmlformats.org/drawingml/2006/main" w="0">
            <a:solidFill>
              <a:srgbClr val="2E7C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EFCF99-00F0-4014-B401-C7E88B87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47675"/>
            <a:ext cx="11753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ACA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7010BD-6ABF-4C16-A715-DF37EDEB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A96371-CD1B-4B4D-BC24-B77D6E16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B41FC3-CD81-4116-BD76-33CC4F40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AE0EA0-3326-4CB6-BBE7-10B5430D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06A15-7CCD-43DB-82E8-DF87C2A8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3AC6A0-6FAA-4B7D-B1D4-C5DECD5A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666750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969E58-B5D4-4DC5-B662-AF998EA7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F4DCF8-82B5-447E-B0E5-5DDFA94B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523875"/>
            <a:ext cx="590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Address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D04167-CA62-4B06-88E2-770FF01C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"/>
            <a:ext cx="1143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9525">
            <a:solidFill>
              <a:srgbClr val="0054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E00442-971F-4372-A86A-5FB6001A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"/>
            <a:ext cx="96964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aadhar.sh  ›  lens  ›  slides  ›  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6EE048-DCD7-4702-B7E9-16CF99B8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85775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34BECA-D349-46AC-BD68-0438294D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6E050D-37F3-421C-B39C-A2F5A79B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53FFB3-A86C-4649-B9A9-191646D5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76275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F007BE-D959-405D-93BA-699CD594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1F6C86-FFFB-43E1-8473-17F6CDF5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14350"/>
            <a:ext cx="666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181818"/>
                </a:solidFill>
                <a:latin typeface="Tahoma"/>
                <a:ea typeface="Tahoma"/>
                <a:cs typeface="Tahoma"/>
              </a:rPr>
              <a:t>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46C1C4-3549-4ECA-9BD5-23CD347E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733425"/>
            <a:ext cx="11734800" cy="5705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A2D3E1-DAF5-4AA9-BB16-0707907E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000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9A33"/>
          </a:solidFill>
          <a:ln xmlns:a="http://schemas.openxmlformats.org/drawingml/2006/main" w="9525">
            <a:solidFill>
              <a:srgbClr val="8F4E1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04A7DA-2187-4BE6-8145-92DEDAD9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9A"/>
          </a:solidFill>
          <a:ln xmlns:a="http://schemas.openxmlformats.org/drawingml/2006/main" w="0">
            <a:solidFill>
              <a:srgbClr val="FFE2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4A707D-0653-404D-BD82-1BB09965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876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The Other Web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064A09-EB9C-4810-AA60-DF1B10E5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4F95AB-D295-49D9-9B96-F4057976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632417-DC88-4626-989B-9D5B51A4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DA0F29-7F99-4E58-B059-00747DD4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2F482A-DAE5-4E11-A1B4-A0B34E7B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8632B1-0B5F-4BCF-BF48-9758EC1D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2C08AB-7E57-4BC5-A147-2BE115C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45F3E"/>
          </a:solidFill>
          <a:ln xmlns:a="http://schemas.openxmlformats.org/drawingml/2006/main" w="9525">
            <a:solidFill>
              <a:srgbClr val="AE311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7C9DBA-7EEC-485B-BC5C-0461CED9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5F"/>
          </a:solidFill>
          <a:ln xmlns:a="http://schemas.openxmlformats.org/drawingml/2006/main" w="0">
            <a:solidFill>
              <a:srgbClr val="E879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4C2336-AB29-439A-8C2D-6675563E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61925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9773A8-56F4-404F-B818-9BBF05AC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EDC"/>
          </a:solidFill>
          <a:ln xmlns:a="http://schemas.openxmlformats.org/drawingml/2006/main" w="0">
            <a:solidFill>
              <a:srgbClr val="245ED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A177E7-936D-479A-B132-8C3729DB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4F3"/>
          </a:solidFill>
          <a:ln xmlns:a="http://schemas.openxmlformats.org/drawingml/2006/main" w="0">
            <a:solidFill>
              <a:srgbClr val="6EA4F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3192F5-EF47-411B-9E3F-36C346CB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047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C9A36"/>
          </a:solidFill>
          <a:ln xmlns:a="http://schemas.openxmlformats.org/drawingml/2006/main" w="9525">
            <a:solidFill>
              <a:srgbClr val="1C6E2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D1374A-C4C9-42C5-8955-8265AD09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6103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start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7260496-525F-453D-A2A8-24993A71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591300"/>
            <a:ext cx="1657350" cy="2381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F7DE5"/>
          </a:solidFill>
          <a:ln xmlns:a="http://schemas.openxmlformats.org/drawingml/2006/main" w="9525">
            <a:solidFill>
              <a:srgbClr val="174EB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9C3AB9-CDAB-4BE2-A4AB-5A0D2C99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629400"/>
            <a:ext cx="1428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▣  lens — demo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242FEC-C262-4F1B-9BC2-98564CD3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29400"/>
            <a:ext cx="7239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 / 07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2751088-CCC0-486A-8E86-2D4F09CE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7239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315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315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One URL. Three readers.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7D870F5-18A0-48BB-B668-2935259E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914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5A5A5A"/>
                </a:solidFill>
                <a:latin typeface="Courier New"/>
                <a:ea typeface="Courier New"/>
                <a:cs typeface="Courier New"/>
              </a:defRPr>
            </a:pPr>
            <a:r>
              <a:rPr sz="1500">
                <a:solidFill>
                  <a:srgbClr val="5A5A5A"/>
                </a:solidFill>
                <a:latin typeface="Courier New"/>
                <a:ea typeface="Courier New"/>
                <a:cs typeface="Courier New"/>
              </a:rPr>
              <a:t>human page  ·  HTTP response  ·  rendered browser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A85539-C624-4703-BF41-D611628F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743075"/>
            <a:ext cx="11182350" cy="462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C33BE9E-22A3-45E9-B48F-C8A1B678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743075"/>
            <a:ext cx="11182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C731E11-094D-4331-8F7C-884195BF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743075"/>
            <a:ext cx="9525" cy="462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2F85D3F-73CD-45E5-A707-5091C878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B8BA795-4D6F-4210-AB23-A2394ACF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9525" cy="461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64F347E-B1FA-452C-965B-935F8128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531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69D2B34-452E-4C61-9620-C6027C6D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8125" y="1752600"/>
            <a:ext cx="9525" cy="461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50D2F7A-B381-45EB-9E3E-F05836D1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781175"/>
            <a:ext cx="11106150" cy="455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F9DB9"/>
            </a:solidFill>
            <a:prstDash val="solid"/>
          </a:ln>
        </p:spPr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b4beb52b743db"/>
          <a:srcRect xmlns:a="http://schemas.openxmlformats.org/drawingml/2006/main" l="0" t="16657" r="0" b="166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809750"/>
            <a:ext cx="11049000" cy="4495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4970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D058D3A-5A25-4E7D-86F5-C909EA97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A6E3"/>
          </a:solidFill>
          <a:ln xmlns:a="http://schemas.openxmlformats.org/drawingml/2006/main" w="0">
            <a:solidFill>
              <a:srgbClr val="6DA6E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7DEBE-F84F-4D80-B844-AF6484D2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12192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DF7"/>
          </a:solidFill>
          <a:ln xmlns:a="http://schemas.openxmlformats.org/drawingml/2006/main" w="0">
            <a:solidFill>
              <a:srgbClr val="D9ED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ACC20-1C10-43C8-B220-40265F70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947"/>
          </a:solidFill>
          <a:ln xmlns:a="http://schemas.openxmlformats.org/drawingml/2006/main" w="0">
            <a:solidFill>
              <a:srgbClr val="55A94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7BAFCB-6AFA-4FC7-80DF-65C0B06B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33350"/>
            <a:ext cx="11830050" cy="6381750"/>
          </a:xfrm>
          <a:prstGeom xmlns:a="http://schemas.openxmlformats.org/drawingml/2006/main" prst="roundRect">
            <a:avLst>
              <a:gd name="adj" fmla="val 896"/>
            </a:avLst>
          </a:prstGeom>
          <a:solidFill xmlns:a="http://schemas.openxmlformats.org/drawingml/2006/main">
            <a:srgbClr val="315C91"/>
          </a:solidFill>
          <a:ln xmlns:a="http://schemas.openxmlformats.org/drawingml/2006/main" w="0">
            <a:solidFill>
              <a:srgbClr val="315C9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6CFB9-83C3-48F7-AB8E-F42ACB74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76200"/>
            <a:ext cx="11849100" cy="6419850"/>
          </a:xfrm>
          <a:prstGeom xmlns:a="http://schemas.openxmlformats.org/drawingml/2006/main" prst="roundRect">
            <a:avLst>
              <a:gd name="adj" fmla="val 890"/>
            </a:avLst>
          </a:prstGeom>
          <a:solidFill xmlns:a="http://schemas.openxmlformats.org/drawingml/2006/main">
            <a:srgbClr val="001EA0"/>
          </a:solidFill>
          <a:ln xmlns:a="http://schemas.openxmlformats.org/drawingml/2006/main" w="9525">
            <a:solidFill>
              <a:srgbClr val="001EA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5800FD-CF2D-40AB-842D-FFFF3957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" y="104775"/>
            <a:ext cx="11791950" cy="6362700"/>
          </a:xfrm>
          <a:prstGeom xmlns:a="http://schemas.openxmlformats.org/drawingml/2006/main" prst="roundRect">
            <a:avLst>
              <a:gd name="adj" fmla="val 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95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56246A-8FEF-4F82-84D3-C79D66EE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123825"/>
            <a:ext cx="117538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54E3"/>
          </a:solidFill>
          <a:ln xmlns:a="http://schemas.openxmlformats.org/drawingml/2006/main" w="0">
            <a:solidFill>
              <a:srgbClr val="0054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6C4C38-9937-4381-858D-02FF233F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117157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0">
            <a:solidFill>
              <a:srgbClr val="3D95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E2A49-1465-4C81-8B3A-94EB161C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90500"/>
            <a:ext cx="1171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EE"/>
          </a:solidFill>
          <a:ln xmlns:a="http://schemas.openxmlformats.org/drawingml/2006/main" w="0">
            <a:solidFill>
              <a:srgbClr val="176A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F1B28-D3A0-40CA-A106-8075F340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400050"/>
            <a:ext cx="1171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2"/>
          </a:solidFill>
          <a:ln xmlns:a="http://schemas.openxmlformats.org/drawingml/2006/main" w="0">
            <a:solidFill>
              <a:srgbClr val="2E7C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1B03E-545C-4076-ABC1-1E54D40F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47675"/>
            <a:ext cx="11753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ACA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95F38-0B3E-4268-94CB-D7B8D63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8DF2DF-D86A-4D6F-8273-677A4268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4EAB60-7740-4D6D-A4DD-B26373E6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58686-2180-4879-B494-41E16A49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C72FA-CDD7-4853-86E8-69503BCF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A33F65-307A-43D8-9D20-DEB42565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666750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F3B9A8-5650-44B4-ADA0-EE081831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22B5DE-5998-43E7-A409-C508514C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523875"/>
            <a:ext cx="590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Address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A3C6ED-9BD0-4B7B-8197-82FC3A4F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"/>
            <a:ext cx="1143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9525">
            <a:solidFill>
              <a:srgbClr val="0054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05C07E-E3AE-4119-987C-D138564D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"/>
            <a:ext cx="96964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aadhar.sh  ›  lens  ›  slides  ›  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114E67-9450-4971-8E10-3DADBE54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85775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9238C-1472-4B69-BCF4-963377CA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BCC908-3C4E-4EE7-9A35-3442A63E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2D1CB4-E7F2-4BE6-8661-C83CBE9B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76275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3787E3-7367-45D9-A071-0D681A2F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167FF8-4DEB-43DB-BF3F-B49746DB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14350"/>
            <a:ext cx="666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181818"/>
                </a:solidFill>
                <a:latin typeface="Tahoma"/>
                <a:ea typeface="Tahoma"/>
                <a:cs typeface="Tahoma"/>
              </a:rPr>
              <a:t>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05F130-854D-4694-9E6A-4CA1750B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733425"/>
            <a:ext cx="11734800" cy="5705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90E2D1-09B0-4CA5-8A3B-1B18F18B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000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9A33"/>
          </a:solidFill>
          <a:ln xmlns:a="http://schemas.openxmlformats.org/drawingml/2006/main" w="9525">
            <a:solidFill>
              <a:srgbClr val="8F4E1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BFB301-6BD5-4282-8278-BEBDE2B0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9A"/>
          </a:solidFill>
          <a:ln xmlns:a="http://schemas.openxmlformats.org/drawingml/2006/main" w="0">
            <a:solidFill>
              <a:srgbClr val="FFE2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F0583B-54E3-4495-9603-5D0A9EE0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876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The Other Web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FD1AB1-16BD-4F2F-B658-3C741F72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67882C-0DB5-4F5E-BEC4-BB0A60EE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670A6F-CDB2-43B7-94CE-87088F6E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B62C62-096A-43CE-A0D2-10CA99A8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55E1F1-365A-4902-91D6-63366BC2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D231D0-5C28-4EBE-9B2C-79FA682C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25EE53-CFE8-44F2-837D-2FED6195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45F3E"/>
          </a:solidFill>
          <a:ln xmlns:a="http://schemas.openxmlformats.org/drawingml/2006/main" w="9525">
            <a:solidFill>
              <a:srgbClr val="AE311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3CCA53-99A5-4FD1-82D7-DADC8037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5F"/>
          </a:solidFill>
          <a:ln xmlns:a="http://schemas.openxmlformats.org/drawingml/2006/main" w="0">
            <a:solidFill>
              <a:srgbClr val="E879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F1E65E-C0E2-4A00-880F-9E9AA692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61925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B76A6D-1813-4F29-AB01-091E701E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EDC"/>
          </a:solidFill>
          <a:ln xmlns:a="http://schemas.openxmlformats.org/drawingml/2006/main" w="0">
            <a:solidFill>
              <a:srgbClr val="245ED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085B98-CDE4-413E-BEBB-D0F38EE8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4F3"/>
          </a:solidFill>
          <a:ln xmlns:a="http://schemas.openxmlformats.org/drawingml/2006/main" w="0">
            <a:solidFill>
              <a:srgbClr val="6EA4F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B51951-57BC-4A5B-B86B-E2AA1C28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047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C9A36"/>
          </a:solidFill>
          <a:ln xmlns:a="http://schemas.openxmlformats.org/drawingml/2006/main" w="9525">
            <a:solidFill>
              <a:srgbClr val="1C6E2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340593-A7EE-4509-A9E4-CA9D1209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6103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start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DCFF9C-2B28-404C-972E-F1B6C855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591300"/>
            <a:ext cx="1657350" cy="2381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F7DE5"/>
          </a:solidFill>
          <a:ln xmlns:a="http://schemas.openxmlformats.org/drawingml/2006/main" w="9525">
            <a:solidFill>
              <a:srgbClr val="174EB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7168180-BB3F-4DDD-BF2D-B9AFC72A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629400"/>
            <a:ext cx="1428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▣  lens — demo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C77A31-D59B-4449-B105-B9216281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29400"/>
            <a:ext cx="7239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 / 07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77E87E7-A192-49B3-9F53-454E80D6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9150"/>
            <a:ext cx="100012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25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3225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The web keeps changing its answer</a:t>
            </a:r>
          </a:p>
          <a:p xmlns:a="http://schemas.openxmlformats.org/drawingml/2006/main">
            <a:pPr>
              <a:lnSpc>
                <a:spcPct val="100000"/>
              </a:lnSpc>
              <a:buNone/>
              <a:defRPr sz="3225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3225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to “what is this page for?”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16D83F4-DC64-4274-BC50-DB461682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34766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2BB05F9-DAFB-402C-BD77-75B99E62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0F7FC84-F1DC-4BB9-9FB1-9E970377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30D245-1BB3-4C9E-AAF5-23B702D9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390775"/>
            <a:ext cx="345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F5A0FC1-FCC2-4EE1-A09A-582D8C05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390775"/>
            <a:ext cx="9525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807D176-84FD-4B08-991E-4F3A6E21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791200"/>
            <a:ext cx="345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EFB91E-21C5-42AA-8402-572EBEC4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390775"/>
            <a:ext cx="9525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6E0163F-7B4B-4BD1-900C-E09199B5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7526E14-E343-4A76-B7F1-C92F3578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05125"/>
            <a:ext cx="32289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0869B75-5A3E-45C5-BC3E-54298D96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05125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660FCE8-9792-4615-A903-BFA0443C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33750"/>
            <a:ext cx="32289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2404F81-870D-4DB7-AAFF-3AAE2F4E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905125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DEDE674-5F36-4BBB-A7F6-AB09EEE2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476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7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5C0B010-4EE5-46AE-A321-F38D244C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PAST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BC92453-9471-45CB-82C7-191D5A14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describe meaning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249CE4A-A7D1-49CC-9A55-CA4EC5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76750"/>
            <a:ext cx="29527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7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7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semantic HTML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7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RDF + linked data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7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microformats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C8198C0-542A-4C36-96DD-F52290AC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81250"/>
            <a:ext cx="34766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D63B6C8-DD79-4A3B-8775-22E79678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812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B89A0B2-8514-4469-94DC-C0CF1709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8125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5F959E9-B259-4278-8531-A4662775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90775"/>
            <a:ext cx="345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B8D6B4B-92FD-429F-863B-A9DB8994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90775"/>
            <a:ext cx="9525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1F92C89-CD4C-4C47-82C9-49E1A62B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791200"/>
            <a:ext cx="345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FF05804-9155-4FFC-995E-31F36623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390775"/>
            <a:ext cx="9525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6498855-0F92-472F-A380-95CAF6C6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8956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E8A3DD9-F59C-4603-AA3C-06584480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05125"/>
            <a:ext cx="32289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1AA0918-869C-41E0-A5B1-99D98C44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05125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E8497E5-C59F-4760-AD4B-5A2C62DD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33750"/>
            <a:ext cx="32289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609BE07-3844-45B2-9538-EBA95E4B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05125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B0D95D2-3404-48F8-A61A-8945FD96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09850"/>
            <a:ext cx="476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75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05FE34C-C719-4DE3-B1C4-612BD621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028950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PRESENT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58327F1-AB72-41A8-A9B3-70DBBB32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476625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scrape presentation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D6AAC70-6E2B-439F-83C5-43436F43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476750"/>
            <a:ext cx="29527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7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7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HTML + JavaScript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7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robots + terms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7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expensive cleanup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8ABF003-92BF-49ED-AA9B-3B5439F5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4766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61827BB-84F3-4CA5-8CB8-08E66060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82D0668-1053-4FA7-9D23-7CFAF29C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94A4763-8649-46AF-B991-6B9D8B5C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390775"/>
            <a:ext cx="345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47C19C2-8C99-46F8-8587-46F8147C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390775"/>
            <a:ext cx="9525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2F2844A-B6DA-4395-80D4-0434B5D6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5791200"/>
            <a:ext cx="345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4AF19AD-52EB-4819-8706-FAB67EBD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390775"/>
            <a:ext cx="9525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70B56A8-52ED-4340-AFCE-4769ECB1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9D64DDD-E986-47C0-9CEF-C95ED85C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905125"/>
            <a:ext cx="32289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D12C4DE-F765-4005-9CEA-50426E5B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905125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AAA677E-0004-41CC-B0E9-8A6EF238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333750"/>
            <a:ext cx="32289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477BDB4-094C-4FF3-B67F-482CE993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2905125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483DF30-E317-429D-A323-4F02665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476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75" b="1">
                <a:solidFill>
                  <a:srgbClr val="087C8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87C8C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6352763-3D51-4407-A6F2-23059AC0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28950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087C8C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87C8C"/>
                </a:solidFill>
                <a:latin typeface="Tahoma"/>
                <a:ea typeface="Tahoma"/>
                <a:cs typeface="Tahoma"/>
              </a:rPr>
              <a:t>FUTURE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9FAC932-2230-4EA7-88B7-DA280D1D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76625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negotiate action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DEAAA4D-E5EE-4414-B789-0A2426FB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9527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57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7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tools + permissions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7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auth + payment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57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7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intent + provenance</a:t>
            </a:r>
          </a:p>
        </p:txBody>
      </p:sp>
    </p:spTree>
    <p:extLst>
      <p:ext uri="{BB962C8B-B14F-4D97-AF65-F5344CB8AC3E}">
        <p14:creationId xmlns:p14="http://schemas.microsoft.com/office/powerpoint/2010/main" val="19912186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AF6081F-D779-474B-82E2-D118DEB1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A6E3"/>
          </a:solidFill>
          <a:ln xmlns:a="http://schemas.openxmlformats.org/drawingml/2006/main" w="0">
            <a:solidFill>
              <a:srgbClr val="6DA6E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926158-C95B-4B44-8447-7551AD24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12192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DF7"/>
          </a:solidFill>
          <a:ln xmlns:a="http://schemas.openxmlformats.org/drawingml/2006/main" w="0">
            <a:solidFill>
              <a:srgbClr val="D9ED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211550-213A-4AD7-9F8B-518F021F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947"/>
          </a:solidFill>
          <a:ln xmlns:a="http://schemas.openxmlformats.org/drawingml/2006/main" w="0">
            <a:solidFill>
              <a:srgbClr val="55A94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660A2-A2EC-41EB-8A80-1130CB2F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33350"/>
            <a:ext cx="11830050" cy="6381750"/>
          </a:xfrm>
          <a:prstGeom xmlns:a="http://schemas.openxmlformats.org/drawingml/2006/main" prst="roundRect">
            <a:avLst>
              <a:gd name="adj" fmla="val 896"/>
            </a:avLst>
          </a:prstGeom>
          <a:solidFill xmlns:a="http://schemas.openxmlformats.org/drawingml/2006/main">
            <a:srgbClr val="315C91"/>
          </a:solidFill>
          <a:ln xmlns:a="http://schemas.openxmlformats.org/drawingml/2006/main" w="0">
            <a:solidFill>
              <a:srgbClr val="315C9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46A17-0343-42FD-8C0D-44DB7FFE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76200"/>
            <a:ext cx="11849100" cy="6419850"/>
          </a:xfrm>
          <a:prstGeom xmlns:a="http://schemas.openxmlformats.org/drawingml/2006/main" prst="roundRect">
            <a:avLst>
              <a:gd name="adj" fmla="val 890"/>
            </a:avLst>
          </a:prstGeom>
          <a:solidFill xmlns:a="http://schemas.openxmlformats.org/drawingml/2006/main">
            <a:srgbClr val="001EA0"/>
          </a:solidFill>
          <a:ln xmlns:a="http://schemas.openxmlformats.org/drawingml/2006/main" w="9525">
            <a:solidFill>
              <a:srgbClr val="001EA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C33666-FC11-4093-925A-CDBA4251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" y="104775"/>
            <a:ext cx="11791950" cy="6362700"/>
          </a:xfrm>
          <a:prstGeom xmlns:a="http://schemas.openxmlformats.org/drawingml/2006/main" prst="roundRect">
            <a:avLst>
              <a:gd name="adj" fmla="val 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95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255657-C43B-4D36-8037-344BC35D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123825"/>
            <a:ext cx="117538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54E3"/>
          </a:solidFill>
          <a:ln xmlns:a="http://schemas.openxmlformats.org/drawingml/2006/main" w="0">
            <a:solidFill>
              <a:srgbClr val="0054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79256-6DA7-45E2-965E-5D6E6AEA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117157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0">
            <a:solidFill>
              <a:srgbClr val="3D95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7259E0-E858-4775-A498-A019A9F0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90500"/>
            <a:ext cx="1171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EE"/>
          </a:solidFill>
          <a:ln xmlns:a="http://schemas.openxmlformats.org/drawingml/2006/main" w="0">
            <a:solidFill>
              <a:srgbClr val="176A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B0177-CF43-4FB9-9046-E32594D9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400050"/>
            <a:ext cx="1171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2"/>
          </a:solidFill>
          <a:ln xmlns:a="http://schemas.openxmlformats.org/drawingml/2006/main" w="0">
            <a:solidFill>
              <a:srgbClr val="2E7C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260D0E-DF7C-451E-BF9B-76C980E9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47675"/>
            <a:ext cx="11753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ACA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4686F0-F9FE-4EAA-81A6-DF0E50C1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63DC25-4FD7-4413-AD12-04409B80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1DA506-552F-4969-A103-D1AB12E6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C3441E-DE3F-41F1-8FBF-8E268230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64CAE-FA78-4D6A-9760-44BDBA8E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4BC3A0-94AC-4BB7-A97F-78A33C89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666750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5681C5-2D87-430D-942F-0425CC4F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172560-BEF4-4051-AF5D-FB2FBC8E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523875"/>
            <a:ext cx="590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Address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B49092-78EF-43A9-B3C1-655AC0B8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"/>
            <a:ext cx="1143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9525">
            <a:solidFill>
              <a:srgbClr val="0054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17A923-F4E1-4497-9EFE-92C58411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"/>
            <a:ext cx="96964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aadhar.sh  ›  lens  ›  slides  › 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30BB00-CE68-46C4-939A-1CADD9F6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85775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9909ED-AB97-4AD8-92E0-B2567B63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CE597F-3654-4057-A421-050CC606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3013F2-1B85-4B7E-9819-54D3067A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76275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08AADD-62F4-439A-B0A5-37E94C93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26E01D-7817-4ADE-BA11-777DBA8E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14350"/>
            <a:ext cx="666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181818"/>
                </a:solidFill>
                <a:latin typeface="Tahoma"/>
                <a:ea typeface="Tahoma"/>
                <a:cs typeface="Tahoma"/>
              </a:rPr>
              <a:t>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2DACE1-2477-44A0-A008-AC80E36B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733425"/>
            <a:ext cx="11734800" cy="5705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A84EAB-30B0-442F-AE81-3481E5A5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000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9A33"/>
          </a:solidFill>
          <a:ln xmlns:a="http://schemas.openxmlformats.org/drawingml/2006/main" w="9525">
            <a:solidFill>
              <a:srgbClr val="8F4E1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DCEDCC-7CA8-4CD1-A1BD-1DAF4B3A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9A"/>
          </a:solidFill>
          <a:ln xmlns:a="http://schemas.openxmlformats.org/drawingml/2006/main" w="0">
            <a:solidFill>
              <a:srgbClr val="FFE2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487A87-67BA-480E-8B05-5F87ACEF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876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The Other Web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94042F-A1BD-4925-B6EA-E42D9B81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DB489C-4410-491A-B422-6117EA39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760F10-424F-496C-8F50-3197D7D5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155F3D-7784-4F78-89EA-CBE18B4E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3712FC-4F46-4E85-9646-97471C51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C4B938-9000-473B-A589-6BC970AF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0E5BBB-89E1-47E7-86F2-8E5CA36E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45F3E"/>
          </a:solidFill>
          <a:ln xmlns:a="http://schemas.openxmlformats.org/drawingml/2006/main" w="9525">
            <a:solidFill>
              <a:srgbClr val="AE311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26C128-B1C8-49A8-B767-395A4EC1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5F"/>
          </a:solidFill>
          <a:ln xmlns:a="http://schemas.openxmlformats.org/drawingml/2006/main" w="0">
            <a:solidFill>
              <a:srgbClr val="E879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94F924-434E-4E49-8155-14C91BBF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61925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CB8FAC-0AE8-45E5-A93D-64A75F4F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EDC"/>
          </a:solidFill>
          <a:ln xmlns:a="http://schemas.openxmlformats.org/drawingml/2006/main" w="0">
            <a:solidFill>
              <a:srgbClr val="245ED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3417AB9-4320-476D-9F93-BB47A6FF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4F3"/>
          </a:solidFill>
          <a:ln xmlns:a="http://schemas.openxmlformats.org/drawingml/2006/main" w="0">
            <a:solidFill>
              <a:srgbClr val="6EA4F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357E95-89CD-4445-A73F-04C9C5C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047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C9A36"/>
          </a:solidFill>
          <a:ln xmlns:a="http://schemas.openxmlformats.org/drawingml/2006/main" w="9525">
            <a:solidFill>
              <a:srgbClr val="1C6E2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94B9CD-2777-43CA-BE57-F39FA3A0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6103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start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F44583-5AEB-4C3F-AEA8-9BF13049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591300"/>
            <a:ext cx="1657350" cy="2381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F7DE5"/>
          </a:solidFill>
          <a:ln xmlns:a="http://schemas.openxmlformats.org/drawingml/2006/main" w="9525">
            <a:solidFill>
              <a:srgbClr val="174EB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D04BB-81C0-4270-91C7-AB844590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629400"/>
            <a:ext cx="1428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▣  lens — demo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D9BFAB-7D3A-45ED-A0DD-915046C1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29400"/>
            <a:ext cx="7239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 / 07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50F7B5B-BD96-4B1C-AF8A-FEEAF04D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1050"/>
            <a:ext cx="8953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315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315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A useful score must expose its opinion.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87244F8-4BA7-4C0D-B6B0-0B233EF9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8953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500">
                <a:solidFill>
                  <a:srgbClr val="5A5A5A"/>
                </a:solidFill>
                <a:latin typeface="Tahoma"/>
                <a:ea typeface="Tahoma"/>
                <a:cs typeface="Tahoma"/>
              </a:rPr>
              <a:t>No hidden reweighting. No single vendor as oracle.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40689E6-4998-4725-BA26-4837F8DD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790700"/>
            <a:ext cx="680085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87FAEDD-576D-4577-A8C8-1BBA7587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790700"/>
            <a:ext cx="680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692C72E-5FFD-4445-BC82-2078EF2F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790700"/>
            <a:ext cx="9525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3263FD-7E8B-47D4-8962-2E798C51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0225"/>
            <a:ext cx="678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9BEB72-49CE-4E02-9D59-34B0E102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0225"/>
            <a:ext cx="9525" cy="440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AC6774C-6D96-4E85-B604-9BF70D78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6781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4799C8-38E3-4337-BE5E-9B70AC9D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0225"/>
            <a:ext cx="9525" cy="440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51A6AD4-A0A0-4A4C-8C4A-6132E529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828800"/>
            <a:ext cx="67246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F9DB9"/>
            </a:solidFill>
            <a:prstDash val="solid"/>
          </a:ln>
        </p:spPr>
      </p:sp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352adc4564982"/>
          <a:srcRect xmlns:a="http://schemas.openxmlformats.org/drawingml/2006/main" l="2542" t="0" r="25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857375"/>
            <a:ext cx="6667500" cy="4286250"/>
          </a:xfrm>
          <a:prstGeom xmlns:a="http://schemas.openxmlformats.org/drawingml/2006/main" prst="rect">
            <a:avLst/>
          </a:prstGeom>
        </p:spPr>
      </p:pic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D258F5D-011A-407B-ADC9-0AC1B6EC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05000"/>
            <a:ext cx="3619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47DBD5A-3F8B-4E0A-B354-10265F15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05000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C4DF56A-E57D-4C33-8EA9-4609A9A2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05000"/>
            <a:ext cx="95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BAE0807-D9B1-4715-A8C7-CCB9C8B6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1914525"/>
            <a:ext cx="3600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FDEFC1-EF51-4D4A-9601-F6C668E7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19145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9BC895F-7880-4712-A548-EBED1790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409950"/>
            <a:ext cx="3600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942104A-3C3B-4E73-B69E-26FB1D12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19145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2F92FD9-9013-4918-8EB3-EC5DA78B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47875"/>
            <a:ext cx="29527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45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645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100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5A4D4D-503B-44C3-AD91-7D605008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28950"/>
            <a:ext cx="2952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A5A5A"/>
                </a:solidFill>
                <a:latin typeface="Tahoma"/>
                <a:ea typeface="Tahoma"/>
                <a:cs typeface="Tahoma"/>
              </a:rPr>
              <a:t>COMPOSITE AGENT ACCESS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7E572E2-296D-4CCB-BC2E-580C6043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195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327B139-9CF6-4723-81EE-16408E34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195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EAFAB4B-D9C2-4C80-89EB-2484E013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195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C005561-8315-4DC6-9F12-22357C93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3629025"/>
            <a:ext cx="340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286CC43-18DB-4BB7-AF97-7F8B6833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3629025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C0C1320-793B-43B7-BD5C-A8F6B3D3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038600"/>
            <a:ext cx="340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7EA1023-E4D0-445D-98D6-7BD37EB9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629025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EB7DC1B-C32F-456E-BD02-FDA8BCDA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743325"/>
            <a:ext cx="238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Cloudflare standards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D1902EE-E962-4BD4-AF2D-C279EF0E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714750"/>
            <a:ext cx="590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500" b="1">
                <a:solidFill>
                  <a:srgbClr val="24713C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4713C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EDB32D8-1343-45DA-B5F0-8013F8A3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7195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EC8B53E-BA63-47EB-BFCD-7465B8B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719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6E633B8-6365-4B99-948C-30E89FED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7195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ECA08B0-F2B8-4985-91A4-7FEA5427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181475"/>
            <a:ext cx="340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72F4D2A-16A8-4937-9EC0-F3B9BF54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181475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F057474-2150-4F5D-ADAF-603F0F16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591050"/>
            <a:ext cx="340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40EEEE6-57BC-4962-8831-A66A380C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181475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D2A6956-9E88-4BFA-973F-447C4498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95775"/>
            <a:ext cx="238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Lens field evidence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5B66483-45EC-4207-824A-F9BB3529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267200"/>
            <a:ext cx="590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500" b="1">
                <a:solidFill>
                  <a:srgbClr val="24713C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4713C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E9DF3CB-002B-4172-B676-8563D6A8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244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3DFCDCD-3290-40AF-9E66-10D5D315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244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1CD81C0-0C93-434E-95B8-20437D52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24400"/>
            <a:ext cx="95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0B8371B-FFCD-4351-BC47-39CE0B22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733925"/>
            <a:ext cx="340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4491337-630A-47E2-8882-A2EEA089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733925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E9EF464-60F7-4809-8635-C433018E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5143500"/>
            <a:ext cx="340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C4EEC7A-C7C6-4C47-B051-35E54F3C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733925"/>
            <a:ext cx="95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16FFBFB-9C77-475D-B828-BC5C5FE8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48225"/>
            <a:ext cx="238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Defuddle recovery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F94CE1D-95EF-4092-87A4-7ADEC40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819650"/>
            <a:ext cx="590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500" b="1">
                <a:solidFill>
                  <a:srgbClr val="24713C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4713C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BC19E55-F238-4385-AE52-C362DEC9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476875"/>
            <a:ext cx="3429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>
                <a:solidFill>
                  <a:srgbClr val="5A5A5A"/>
                </a:solidFill>
                <a:latin typeface="Courier New"/>
                <a:ea typeface="Courier New"/>
                <a:cs typeface="Courier New"/>
              </a:defRPr>
            </a:pPr>
            <a:r>
              <a:rPr sz="1200">
                <a:solidFill>
                  <a:srgbClr val="5A5A5A"/>
                </a:solidFill>
                <a:latin typeface="Courier New"/>
                <a:ea typeface="Courier New"/>
                <a:cs typeface="Courier New"/>
              </a:rPr>
              <a:t>equal thirds  ·  missing input = unfinished</a:t>
            </a:r>
          </a:p>
        </p:txBody>
      </p:sp>
    </p:spTree>
    <p:extLst>
      <p:ext uri="{BB962C8B-B14F-4D97-AF65-F5344CB8AC3E}">
        <p14:creationId xmlns:p14="http://schemas.microsoft.com/office/powerpoint/2010/main" val="16263241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1B214F0-CBEE-4F0C-8D2D-CDE41FA0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A6E3"/>
          </a:solidFill>
          <a:ln xmlns:a="http://schemas.openxmlformats.org/drawingml/2006/main" w="0">
            <a:solidFill>
              <a:srgbClr val="6DA6E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B371B4-4579-4C54-BF49-24A2D982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12192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DF7"/>
          </a:solidFill>
          <a:ln xmlns:a="http://schemas.openxmlformats.org/drawingml/2006/main" w="0">
            <a:solidFill>
              <a:srgbClr val="D9ED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5CDB2-6162-481D-AE97-73C1D12A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947"/>
          </a:solidFill>
          <a:ln xmlns:a="http://schemas.openxmlformats.org/drawingml/2006/main" w="0">
            <a:solidFill>
              <a:srgbClr val="55A94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3951D-DBAA-4F62-876E-1ADE8E25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33350"/>
            <a:ext cx="11830050" cy="6381750"/>
          </a:xfrm>
          <a:prstGeom xmlns:a="http://schemas.openxmlformats.org/drawingml/2006/main" prst="roundRect">
            <a:avLst>
              <a:gd name="adj" fmla="val 896"/>
            </a:avLst>
          </a:prstGeom>
          <a:solidFill xmlns:a="http://schemas.openxmlformats.org/drawingml/2006/main">
            <a:srgbClr val="315C91"/>
          </a:solidFill>
          <a:ln xmlns:a="http://schemas.openxmlformats.org/drawingml/2006/main" w="0">
            <a:solidFill>
              <a:srgbClr val="315C9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41DF9-0753-4DF4-AE40-285F9087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76200"/>
            <a:ext cx="11849100" cy="6419850"/>
          </a:xfrm>
          <a:prstGeom xmlns:a="http://schemas.openxmlformats.org/drawingml/2006/main" prst="roundRect">
            <a:avLst>
              <a:gd name="adj" fmla="val 890"/>
            </a:avLst>
          </a:prstGeom>
          <a:solidFill xmlns:a="http://schemas.openxmlformats.org/drawingml/2006/main">
            <a:srgbClr val="001EA0"/>
          </a:solidFill>
          <a:ln xmlns:a="http://schemas.openxmlformats.org/drawingml/2006/main" w="9525">
            <a:solidFill>
              <a:srgbClr val="001EA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EC79B9-7AD8-414D-B027-B663488B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" y="104775"/>
            <a:ext cx="11791950" cy="6362700"/>
          </a:xfrm>
          <a:prstGeom xmlns:a="http://schemas.openxmlformats.org/drawingml/2006/main" prst="roundRect">
            <a:avLst>
              <a:gd name="adj" fmla="val 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95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4F031F-B0D8-4840-ACED-618B86FD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123825"/>
            <a:ext cx="117538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54E3"/>
          </a:solidFill>
          <a:ln xmlns:a="http://schemas.openxmlformats.org/drawingml/2006/main" w="0">
            <a:solidFill>
              <a:srgbClr val="0054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9FE36-CC50-4A6A-96A2-2779BA63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117157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0">
            <a:solidFill>
              <a:srgbClr val="3D95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5664B-22F4-4EA8-9B61-2DD21E09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90500"/>
            <a:ext cx="1171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EE"/>
          </a:solidFill>
          <a:ln xmlns:a="http://schemas.openxmlformats.org/drawingml/2006/main" w="0">
            <a:solidFill>
              <a:srgbClr val="176A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FD926D-DB57-4F44-8A0E-643F6FBE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400050"/>
            <a:ext cx="1171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2"/>
          </a:solidFill>
          <a:ln xmlns:a="http://schemas.openxmlformats.org/drawingml/2006/main" w="0">
            <a:solidFill>
              <a:srgbClr val="2E7C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70A8B9-F2A9-4826-ADD8-79747A50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47675"/>
            <a:ext cx="11753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ACA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38658F-5783-47D9-BDF6-AB5B8E5F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E3D64-2B6E-40A7-982B-EDB69DE0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7D0612-8688-41F0-8ED8-EC222BEE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3A9100-8648-4A7B-B723-634AE229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13D90C-511F-436B-ABE5-21B654C5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7E46E9-D8E8-4D65-9BAE-019E8804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666750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CC7AA3-ED05-4A97-8A22-E1E5C9D0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2326E9-016F-447C-84A0-804CE6BE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523875"/>
            <a:ext cx="590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Address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56BF9-526D-4901-8AC3-AD3D797E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"/>
            <a:ext cx="1143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9525">
            <a:solidFill>
              <a:srgbClr val="0054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D1D585-14D4-40B9-8A8E-05F4BBD5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"/>
            <a:ext cx="96964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aadhar.sh  ›  lens  ›  slides  ›  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017271-D3F7-45EA-A93A-45865BF9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85775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CA32E4-9615-4DD6-BC80-F81E4B57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C50829-74BD-4EAA-8664-46AFC082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DDF077-9A70-4BDE-89E4-AB36A18A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76275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CB1377-5B4B-4944-BF42-D37C0351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C61A3F-82EC-4ACC-AD71-555B098C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14350"/>
            <a:ext cx="666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181818"/>
                </a:solidFill>
                <a:latin typeface="Tahoma"/>
                <a:ea typeface="Tahoma"/>
                <a:cs typeface="Tahoma"/>
              </a:rPr>
              <a:t>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9ABC90-4835-4A3B-B67D-0296D04A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733425"/>
            <a:ext cx="11734800" cy="5705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97C6DC-0414-47E9-94D5-657C1279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000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9A33"/>
          </a:solidFill>
          <a:ln xmlns:a="http://schemas.openxmlformats.org/drawingml/2006/main" w="9525">
            <a:solidFill>
              <a:srgbClr val="8F4E1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8BE9FD-534D-411E-B737-16117263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9A"/>
          </a:solidFill>
          <a:ln xmlns:a="http://schemas.openxmlformats.org/drawingml/2006/main" w="0">
            <a:solidFill>
              <a:srgbClr val="FFE2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90EE89-A8EE-43CA-8ACE-0E79490B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876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The Other Web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9211F8-A245-4E71-A816-C7C15622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02B368-3CDA-4A19-ADAE-CBED06BB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EFE008-59F7-478E-A9CF-745B0A0F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17AFC1-90C8-42FE-BC40-40EDDA91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38BEE2-6DD4-4049-B786-FE20CCD1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55D191-D535-4089-8FB2-9371B4A7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9A972E-0566-4F47-AC9C-21E90BB6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45F3E"/>
          </a:solidFill>
          <a:ln xmlns:a="http://schemas.openxmlformats.org/drawingml/2006/main" w="9525">
            <a:solidFill>
              <a:srgbClr val="AE311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C6FC9D-0B55-4AD3-8B67-E59552A7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5F"/>
          </a:solidFill>
          <a:ln xmlns:a="http://schemas.openxmlformats.org/drawingml/2006/main" w="0">
            <a:solidFill>
              <a:srgbClr val="E879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69CF62-823A-43E8-8E9C-3E305061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61925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BBF659C-67DA-4158-91CC-EDAFF76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EDC"/>
          </a:solidFill>
          <a:ln xmlns:a="http://schemas.openxmlformats.org/drawingml/2006/main" w="0">
            <a:solidFill>
              <a:srgbClr val="245ED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F59D55-0542-4FBF-86CA-8713FCDC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4F3"/>
          </a:solidFill>
          <a:ln xmlns:a="http://schemas.openxmlformats.org/drawingml/2006/main" w="0">
            <a:solidFill>
              <a:srgbClr val="6EA4F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86EF1A-9F1E-41A3-8CA8-AFAC9D87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047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C9A36"/>
          </a:solidFill>
          <a:ln xmlns:a="http://schemas.openxmlformats.org/drawingml/2006/main" w="9525">
            <a:solidFill>
              <a:srgbClr val="1C6E2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A6CA860-C8C8-4FB2-A419-CA2BD77F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6103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start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6E90C8F-FD1B-474F-95E3-C1E5E591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591300"/>
            <a:ext cx="1657350" cy="2381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F7DE5"/>
          </a:solidFill>
          <a:ln xmlns:a="http://schemas.openxmlformats.org/drawingml/2006/main" w="9525">
            <a:solidFill>
              <a:srgbClr val="174EB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B01908F-CEAB-47A1-BEDF-1E27792D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629400"/>
            <a:ext cx="1428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▣  lens — demo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8A7A3A-DF67-485C-B7D3-405FB948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29400"/>
            <a:ext cx="7239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06 / 07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5379E3-81CD-4662-8B73-3F2D9D2E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62865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98000"/>
              </a:lnSpc>
              <a:buNone/>
              <a:defRPr sz="36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36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Not a wrapper.</a:t>
            </a:r>
          </a:p>
          <a:p xmlns:a="http://schemas.openxmlformats.org/drawingml/2006/main">
            <a:pPr>
              <a:lnSpc>
                <a:spcPct val="98000"/>
              </a:lnSpc>
              <a:buNone/>
              <a:defRPr sz="36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36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A disagreement detector.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D65859D-8874-4DDF-8F42-C8E1F3FC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9375"/>
            <a:ext cx="1104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34257E0-048E-457C-B72B-8EC86EE1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9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D08371-8CE0-4872-927E-5471FA2E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9375"/>
            <a:ext cx="95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59FF70D-ACE9-4A43-AA9C-9EBE4BE5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628900"/>
            <a:ext cx="1102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94C5E66-5F4D-47A3-8174-25EBD1CC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628900"/>
            <a:ext cx="95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7104C07-DCC1-4F1C-AA2D-C01E5C99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400425"/>
            <a:ext cx="1102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5A366C8-F292-4E25-BD69-48C847C7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2628900"/>
            <a:ext cx="95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266DCD4-B47D-4EA2-BA99-139F9201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71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8F6731A-4AC6-496D-99A1-C9EFB47D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24150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7C66216-D92A-47A6-8916-AAF26949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2415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1C8F1A-78E1-4357-91E2-3D08B4F6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5175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6DF9485-D47E-47E3-85BF-B27B80D6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2415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27E3E2F-5636-4138-8B66-9FBA1186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9082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STANDARDS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840C99A-5382-45F6-8D83-493B101A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71775"/>
            <a:ext cx="8477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95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Did the publisher declare machine interfaces?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54BD88C-BF87-4213-856B-77EC5594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29025"/>
            <a:ext cx="1104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673BF33-58B0-43E1-8F3B-89E3BADB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290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6770C83-9BFC-4E63-A0EA-8FB6ACF8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29025"/>
            <a:ext cx="95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C551DDA-2042-4142-969E-E48A16A0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638550"/>
            <a:ext cx="1102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AF01759-EE5E-4255-A57D-0ED24A16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638550"/>
            <a:ext cx="95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4F7013A-2629-4FAA-8126-5866DDF0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410075"/>
            <a:ext cx="1102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E258A2D-D845-4DEC-8FB4-AD5010BD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3638550"/>
            <a:ext cx="95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988C6B2-C290-497F-B45E-307BB109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171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AD179CD-88A6-448D-B875-39037917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733800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9AEEE8C-335B-4B00-8EFF-F198F8C1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7338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A2E6D11-5685-49E4-AD71-37076FB2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14825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6E617ED-E0D7-4EDF-BDB2-6FBF413E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3380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3A2D1A3-DCC1-4D18-8317-5C3455B3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0047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BEHAVIOR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3E84801-EF3B-4A32-A524-9B1235F9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81425"/>
            <a:ext cx="8477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95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What happened when identified bots actually tried?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14F7D76-64A2-41CB-A7FA-493297EC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38675"/>
            <a:ext cx="1104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547E37B-48B1-4D8D-81C5-CD97891A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386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702C02C-0DEB-4586-BD0E-EE6ACEE2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38675"/>
            <a:ext cx="95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A96BEB7-1B97-4116-B75A-5FCE7B37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648200"/>
            <a:ext cx="1102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353E046-1A3B-4813-9E06-C1E0DD3A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648200"/>
            <a:ext cx="95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030AC81-79F9-442B-BE64-E59D1FFE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419725"/>
            <a:ext cx="11029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DA6A872-365D-46B1-BEA2-DF2B9612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4648200"/>
            <a:ext cx="95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7E074C8-DFDC-419B-8E22-E0969319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71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937EA79-F8AF-48F4-848B-76E4A2B8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743450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3FF2EA8-FD2D-424D-9763-97869159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74345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64BBEFD-AD2E-40A8-810E-AD845473E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324475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AE501F0-7D6C-4A5C-9403-4332EB93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43450"/>
            <a:ext cx="95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5E49D89-54C4-4FBD-958A-316FF3D3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012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087C8C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87C8C"/>
                </a:solidFill>
                <a:latin typeface="Tahoma"/>
                <a:ea typeface="Tahoma"/>
                <a:cs typeface="Tahoma"/>
              </a:rPr>
              <a:t>RECOVERY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3C12760-E386-4B87-BD8A-F2E453DC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91075"/>
            <a:ext cx="8477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95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Did the response resolve into useful content?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BF20C93-9B08-43EC-8369-9CA65B3D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57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The score is the compact view. The evidence remains inspectable.</a:t>
            </a:r>
          </a:p>
        </p:txBody>
      </p:sp>
    </p:spTree>
    <p:extLst>
      <p:ext uri="{BB962C8B-B14F-4D97-AF65-F5344CB8AC3E}">
        <p14:creationId xmlns:p14="http://schemas.microsoft.com/office/powerpoint/2010/main" val="4831285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1510EF8-A7A0-45DB-8878-57E5A802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A6E3"/>
          </a:solidFill>
          <a:ln xmlns:a="http://schemas.openxmlformats.org/drawingml/2006/main" w="0">
            <a:solidFill>
              <a:srgbClr val="6DA6E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6A7594-5E51-49AD-B8CA-369AB0A5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12192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DF7"/>
          </a:solidFill>
          <a:ln xmlns:a="http://schemas.openxmlformats.org/drawingml/2006/main" w="0">
            <a:solidFill>
              <a:srgbClr val="D9EDF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DDCBC-41A7-4F71-84DA-4EDA07D9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947"/>
          </a:solidFill>
          <a:ln xmlns:a="http://schemas.openxmlformats.org/drawingml/2006/main" w="0">
            <a:solidFill>
              <a:srgbClr val="55A94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492C81-3BAE-467C-A24F-C5E6D25D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33350"/>
            <a:ext cx="11830050" cy="6381750"/>
          </a:xfrm>
          <a:prstGeom xmlns:a="http://schemas.openxmlformats.org/drawingml/2006/main" prst="roundRect">
            <a:avLst>
              <a:gd name="adj" fmla="val 896"/>
            </a:avLst>
          </a:prstGeom>
          <a:solidFill xmlns:a="http://schemas.openxmlformats.org/drawingml/2006/main">
            <a:srgbClr val="315C91"/>
          </a:solidFill>
          <a:ln xmlns:a="http://schemas.openxmlformats.org/drawingml/2006/main" w="0">
            <a:solidFill>
              <a:srgbClr val="315C9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DF15D-DF65-4592-A948-3C53226D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76200"/>
            <a:ext cx="11849100" cy="6419850"/>
          </a:xfrm>
          <a:prstGeom xmlns:a="http://schemas.openxmlformats.org/drawingml/2006/main" prst="roundRect">
            <a:avLst>
              <a:gd name="adj" fmla="val 890"/>
            </a:avLst>
          </a:prstGeom>
          <a:solidFill xmlns:a="http://schemas.openxmlformats.org/drawingml/2006/main">
            <a:srgbClr val="001EA0"/>
          </a:solidFill>
          <a:ln xmlns:a="http://schemas.openxmlformats.org/drawingml/2006/main" w="9525">
            <a:solidFill>
              <a:srgbClr val="001EA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32B12C-F576-4E48-843E-6425DD9B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" y="104775"/>
            <a:ext cx="11791950" cy="6362700"/>
          </a:xfrm>
          <a:prstGeom xmlns:a="http://schemas.openxmlformats.org/drawingml/2006/main" prst="roundRect">
            <a:avLst>
              <a:gd name="adj" fmla="val 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95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C008F4-BB95-4B4C-8B23-0254A4BB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123825"/>
            <a:ext cx="117538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54E3"/>
          </a:solidFill>
          <a:ln xmlns:a="http://schemas.openxmlformats.org/drawingml/2006/main" w="0">
            <a:solidFill>
              <a:srgbClr val="0054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B15AF8-284E-4D6F-B5FC-C6F556D9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42875"/>
            <a:ext cx="117157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0">
            <a:solidFill>
              <a:srgbClr val="3D95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71CF1E-C207-493B-AF9D-992537F7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90500"/>
            <a:ext cx="11715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EE"/>
          </a:solidFill>
          <a:ln xmlns:a="http://schemas.openxmlformats.org/drawingml/2006/main" w="0">
            <a:solidFill>
              <a:srgbClr val="176A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8B7AD3-9063-4106-9FDB-F7045D4F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400050"/>
            <a:ext cx="1171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2"/>
          </a:solidFill>
          <a:ln xmlns:a="http://schemas.openxmlformats.org/drawingml/2006/main" w="0">
            <a:solidFill>
              <a:srgbClr val="2E7C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6DB448-4DDB-4D64-A410-05DC4B2B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47675"/>
            <a:ext cx="11753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9D8"/>
          </a:solidFill>
          <a:ln xmlns:a="http://schemas.openxmlformats.org/drawingml/2006/main" w="9525">
            <a:solidFill>
              <a:srgbClr val="ACA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550A25-48E4-48AD-A159-23EB50A5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D2A784-D044-422E-AFAA-2CBD512D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1014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41E5F6-A2EF-47C7-8BA3-E5B63CE9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1E309-9A6F-4534-9080-C88105A4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EE692E-740A-4903-A3D5-4C4ACDB0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9F08E5-DEC1-442A-A872-1EFD7A35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666750"/>
            <a:ext cx="10125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70C07B-3001-4FA7-9C7D-E92FEE45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04825"/>
            <a:ext cx="9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AE2387-7111-40E8-ABB7-B1BAFE68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523875"/>
            <a:ext cx="590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5A5A5A"/>
                </a:solidFill>
                <a:latin typeface="Tahoma"/>
                <a:ea typeface="Tahoma"/>
                <a:cs typeface="Tahoma"/>
              </a:rPr>
              <a:t>Address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85E51D-DF31-4C74-8A2A-C4DB5CC5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3400"/>
            <a:ext cx="114300" cy="114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D95FF"/>
          </a:solidFill>
          <a:ln xmlns:a="http://schemas.openxmlformats.org/drawingml/2006/main" w="9525">
            <a:solidFill>
              <a:srgbClr val="0054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D37665-E22D-4E9B-867B-F11DCA1C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"/>
            <a:ext cx="96964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003399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003399"/>
                </a:solidFill>
                <a:latin typeface="Tahoma"/>
                <a:ea typeface="Tahoma"/>
                <a:cs typeface="Tahoma"/>
              </a:rPr>
              <a:t>aadhar.sh  ›  lens  ›  slides  ›  07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F07127-53A8-43C6-8BF0-3043079B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85775"/>
            <a:ext cx="666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9DF487-82E6-4385-B91B-72CCC70B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FCE7F1-3BFE-469F-AEC1-63B6B654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CF6DB0-26D4-46B7-A73C-6AA1630F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2825" y="676275"/>
            <a:ext cx="647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FB3063-477F-4A88-BE7A-1781CD41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95300"/>
            <a:ext cx="9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BD05F9-504A-4488-ACE1-60F3FF08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14350"/>
            <a:ext cx="666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181818"/>
                </a:solidFill>
                <a:latin typeface="Tahoma"/>
                <a:ea typeface="Tahoma"/>
                <a:cs typeface="Tahoma"/>
              </a:rPr>
              <a:t>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8272FF-D03B-4A62-9B44-0D37B6A8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733425"/>
            <a:ext cx="11734800" cy="5705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5875CF-AED9-4791-82BD-3CCB424F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000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9A33"/>
          </a:solidFill>
          <a:ln xmlns:a="http://schemas.openxmlformats.org/drawingml/2006/main" w="9525">
            <a:solidFill>
              <a:srgbClr val="8F4E1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00F3E3-7DB6-4321-BE85-2B184235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29A"/>
          </a:solidFill>
          <a:ln xmlns:a="http://schemas.openxmlformats.org/drawingml/2006/main" w="0">
            <a:solidFill>
              <a:srgbClr val="FFE29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C8DD37-D687-4378-80B4-6158AF8C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876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THE OTHER WEB · AADHAR.SH/LENS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9ED3D8-4F3F-411C-A742-A335BBCA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E48F4E-BD82-4742-8384-DD58808B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3EEE9F-AAE7-4F9D-8901-96DBF96B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—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D301F5-66B4-450C-BF31-58CCC435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3E73F5"/>
          </a:solidFill>
          <a:ln xmlns:a="http://schemas.openxmlformats.org/drawingml/2006/main" w="9525">
            <a:solidFill>
              <a:srgbClr val="1045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F53E58-D773-44CE-9A23-9301B0E4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9BFF"/>
          </a:solidFill>
          <a:ln xmlns:a="http://schemas.openxmlformats.org/drawingml/2006/main" w="0">
            <a:solidFill>
              <a:srgbClr val="6C9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1CE973-2981-4BBB-AB78-9879A1F2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71450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D7905B-4158-4552-B30B-086A2CFF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71450"/>
            <a:ext cx="219075" cy="20002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45F3E"/>
          </a:solidFill>
          <a:ln xmlns:a="http://schemas.openxmlformats.org/drawingml/2006/main" w="9525">
            <a:solidFill>
              <a:srgbClr val="AE311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89C817-9D1F-4E41-AD8C-E9AF4AFA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190500"/>
            <a:ext cx="180975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5F"/>
          </a:solidFill>
          <a:ln xmlns:a="http://schemas.openxmlformats.org/drawingml/2006/main" w="0">
            <a:solidFill>
              <a:srgbClr val="E8795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E79224-7E0A-4396-B0FA-4AE29514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161925"/>
            <a:ext cx="2190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133AA7-D2F1-4168-8B3D-21001472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EDC"/>
          </a:solidFill>
          <a:ln xmlns:a="http://schemas.openxmlformats.org/drawingml/2006/main" w="0">
            <a:solidFill>
              <a:srgbClr val="245ED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8A92BE-FE2E-45FB-80B8-EF3186D3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53200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A4F3"/>
          </a:solidFill>
          <a:ln xmlns:a="http://schemas.openxmlformats.org/drawingml/2006/main" w="0">
            <a:solidFill>
              <a:srgbClr val="6EA4F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473B3B-A67D-4F65-8B5E-B4428A19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1047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C9A36"/>
          </a:solidFill>
          <a:ln xmlns:a="http://schemas.openxmlformats.org/drawingml/2006/main" w="9525">
            <a:solidFill>
              <a:srgbClr val="1C6E2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CBB7F8-EECC-471C-B618-EB2022CC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6610350"/>
            <a:ext cx="6858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defRPr>
            </a:pPr>
            <a:r>
              <a:rPr sz="1125" b="1" i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start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4D4DE6-1017-4B5B-A7AC-37244923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591300"/>
            <a:ext cx="1657350" cy="2381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F7DE5"/>
          </a:solidFill>
          <a:ln xmlns:a="http://schemas.openxmlformats.org/drawingml/2006/main" w="9525">
            <a:solidFill>
              <a:srgbClr val="174EB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B4A1A8-3FA7-4D3F-8F02-45BAAB22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6629400"/>
            <a:ext cx="1428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▣  lens — demo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19DF648-5537-47C0-9931-0813AE7B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29400"/>
            <a:ext cx="7239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825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825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07 / 07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BCB80D5-DD8E-4029-AE4B-F3478DF1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990600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48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48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Machine legibility</a:t>
            </a:r>
          </a:p>
          <a:p xmlns:a="http://schemas.openxmlformats.org/drawingml/2006/main">
            <a:pPr>
              <a:lnSpc>
                <a:spcPct val="96000"/>
              </a:lnSpc>
              <a:buNone/>
              <a:defRPr sz="48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defRPr>
            </a:pPr>
            <a:r>
              <a:rPr sz="4800" b="1">
                <a:solidFill>
                  <a:srgbClr val="003399"/>
                </a:solidFill>
                <a:latin typeface="Trebuchet MS"/>
                <a:ea typeface="Trebuchet MS"/>
                <a:cs typeface="Trebuchet MS"/>
              </a:rPr>
              <a:t>is a design choice.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F2FB6D-82E5-4EBF-BC0D-8E48153D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838200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2550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2550">
                <a:solidFill>
                  <a:srgbClr val="5A5A5A"/>
                </a:solidFill>
                <a:latin typeface="Tahoma"/>
                <a:ea typeface="Tahoma"/>
                <a:cs typeface="Tahoma"/>
              </a:rPr>
              <a:t>What view does your object express—</a:t>
            </a:r>
          </a:p>
          <a:p xmlns:a="http://schemas.openxmlformats.org/drawingml/2006/main">
            <a:pPr>
              <a:lnSpc>
                <a:spcPct val="110000"/>
              </a:lnSpc>
              <a:buNone/>
              <a:defRPr sz="2550">
                <a:solidFill>
                  <a:srgbClr val="5A5A5A"/>
                </a:solidFill>
                <a:latin typeface="Tahoma"/>
                <a:ea typeface="Tahoma"/>
                <a:cs typeface="Tahoma"/>
              </a:defRPr>
            </a:pPr>
            <a:r>
              <a:rPr sz="2550">
                <a:solidFill>
                  <a:srgbClr val="5A5A5A"/>
                </a:solidFill>
                <a:latin typeface="Tahoma"/>
                <a:ea typeface="Tahoma"/>
                <a:cs typeface="Tahoma"/>
              </a:rPr>
              <a:t>and who is allowed to act on it?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5C57321-6B67-495A-BD01-03C1FAD9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914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6EB307C-848A-4D04-80AC-81327395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65D8A2-4BCE-4CBC-8D7D-D765E54E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95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6F64"/>
          </a:solidFill>
          <a:ln xmlns:a="http://schemas.openxmlformats.org/drawingml/2006/main" w="0">
            <a:solidFill>
              <a:srgbClr val="716F6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804014E-2BEC-4431-AE34-90AB883D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391150"/>
            <a:ext cx="9124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F06F602-1CEE-4FB9-B6C1-64E2B84F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391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6BCDB7-0D85-4B7D-A6D4-170DA61D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048375"/>
            <a:ext cx="9124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7472D99-9A20-424E-98AF-7AA1D85B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391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58A1D2D-6EBC-4362-980F-6C7E91F2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8477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03399"/>
                </a:solidFill>
                <a:latin typeface="Courier New"/>
                <a:ea typeface="Courier New"/>
                <a:cs typeface="Courier New"/>
              </a:defRPr>
            </a:pPr>
            <a:r>
              <a:rPr sz="2250" b="1">
                <a:solidFill>
                  <a:srgbClr val="003399"/>
                </a:solidFill>
                <a:latin typeface="Courier New"/>
                <a:ea typeface="Courier New"/>
                <a:cs typeface="Courier New"/>
              </a:rPr>
              <a:t>https://aadhar.sh/lens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200FD4C-C62A-4D76-A61E-23925652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3816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2"/>
          </a:solidFill>
          <a:ln xmlns:a="http://schemas.openxmlformats.org/drawingml/2006/main" w="9525">
            <a:solidFill>
              <a:srgbClr val="716F64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8A2E6EA-E366-459C-AAEA-5F961F28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391150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4CE083B-D788-4967-95D3-63D4909F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5391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2309477-F75F-4329-86C4-450E9294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48375"/>
            <a:ext cx="1695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BF24394-1CF9-4C11-9F78-161B1EF9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5391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A899"/>
          </a:solidFill>
          <a:ln xmlns:a="http://schemas.openxmlformats.org/drawingml/2006/main" w="0">
            <a:solidFill>
              <a:srgbClr val="ACA899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6227C57-F40E-48A0-998E-C4E4891D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572125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81818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81818"/>
                </a:solidFill>
                <a:latin typeface="Tahoma"/>
                <a:ea typeface="Tahoma"/>
                <a:cs typeface="Tahoma"/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574021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2026-08-11T15:09:36.1340000Z</dcterms:created>
  <dcterms:modified xsi:type="dcterms:W3CDTF">2026-08-11T15:09:36.1340000Z</dcterms:modified>
</coreProperties>
</file>