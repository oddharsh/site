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c84b7e6cc54ffa" /><Relationship Type="http://schemas.openxmlformats.org/officeDocument/2006/relationships/extended-properties" Target="/docProps/app.xml" Id="Rf04f1f00b5144630" /><Relationship Type="http://schemas.openxmlformats.org/officeDocument/2006/relationships/officeDocument" Target="/ppt/presentation.xml" Id="Rad5b9e6f6c6547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9a7c56f2604e4c"/>
  </p:sldMasterIdLst>
  <p:notesMasterIdLst>
    <p:notesMasterId xmlns:r="http://schemas.openxmlformats.org/officeDocument/2006/relationships" r:id="Rf5407b17ef2d4f99"/>
  </p:notesMasterIdLst>
  <p:sldIdLst>
    <p:sldId xmlns:r="http://schemas.openxmlformats.org/officeDocument/2006/relationships" id="256" r:id="R68ed9ca0b63c44f5"/>
    <p:sldId xmlns:r="http://schemas.openxmlformats.org/officeDocument/2006/relationships" id="257" r:id="R5e2e865920414be2"/>
    <p:sldId xmlns:r="http://schemas.openxmlformats.org/officeDocument/2006/relationships" id="258" r:id="Rb74a86ce6e1a44c3"/>
    <p:sldId xmlns:r="http://schemas.openxmlformats.org/officeDocument/2006/relationships" id="259" r:id="Rc75921c399e74f91"/>
    <p:sldId xmlns:r="http://schemas.openxmlformats.org/officeDocument/2006/relationships" id="260" r:id="R19150c0fc6b449e4"/>
    <p:sldId xmlns:r="http://schemas.openxmlformats.org/officeDocument/2006/relationships" id="261" r:id="R68005c96aa534a22"/>
    <p:sldId xmlns:r="http://schemas.openxmlformats.org/officeDocument/2006/relationships" id="262" r:id="R0a981cfb153145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446818bb4747bb" /><Relationship Type="http://schemas.openxmlformats.org/officeDocument/2006/relationships/slideMaster" Target="/ppt/slideMasters/slideMaster1.xml" Id="Ref9a7c56f2604e4c" /><Relationship Type="http://schemas.openxmlformats.org/officeDocument/2006/relationships/notesMaster" Target="/ppt/notesMasters/notesMaster1.xml" Id="Rf5407b17ef2d4f99" /><Relationship Type="http://schemas.openxmlformats.org/officeDocument/2006/relationships/presProps" Target="/ppt/presProps.xml" Id="Rb6b64d5952bd4f31" /><Relationship Type="http://schemas.openxmlformats.org/officeDocument/2006/relationships/tableStyles" Target="/ppt/tableStyles.xml" Id="R63a44956489a4947" /><Relationship Type="http://schemas.openxmlformats.org/officeDocument/2006/relationships/slide" Target="/ppt/slides/slide1.xml" Id="R68ed9ca0b63c44f5" /><Relationship Type="http://schemas.openxmlformats.org/officeDocument/2006/relationships/slide" Target="/ppt/slides/slide2.xml" Id="R5e2e865920414be2" /><Relationship Type="http://schemas.openxmlformats.org/officeDocument/2006/relationships/slide" Target="/ppt/slides/slide3.xml" Id="Rb74a86ce6e1a44c3" /><Relationship Type="http://schemas.openxmlformats.org/officeDocument/2006/relationships/slide" Target="/ppt/slides/slide4.xml" Id="Rc75921c399e74f91" /><Relationship Type="http://schemas.openxmlformats.org/officeDocument/2006/relationships/slide" Target="/ppt/slides/slide5.xml" Id="R19150c0fc6b449e4" /><Relationship Type="http://schemas.openxmlformats.org/officeDocument/2006/relationships/slide" Target="/ppt/slides/slide6.xml" Id="R68005c96aa534a22" /><Relationship Type="http://schemas.openxmlformats.org/officeDocument/2006/relationships/slide" Target="/ppt/slides/slide7.xml" Id="R0a981cfb153145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1e53c15a1e46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7564d93da04693" /><Relationship Type="http://schemas.openxmlformats.org/officeDocument/2006/relationships/notesMaster" Target="/ppt/notesMasters/notesMaster1.xml" Id="R9cbfea5dc03e44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b87f3c099f4ca1" /><Relationship Type="http://schemas.openxmlformats.org/officeDocument/2006/relationships/notesMaster" Target="/ppt/notesMasters/notesMaster1.xml" Id="Rab3e8740540947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8062c2aee94a13" /><Relationship Type="http://schemas.openxmlformats.org/officeDocument/2006/relationships/notesMaster" Target="/ppt/notesMasters/notesMaster1.xml" Id="R2baf6a5923f641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d0bd611f3e42cc" /><Relationship Type="http://schemas.openxmlformats.org/officeDocument/2006/relationships/notesMaster" Target="/ppt/notesMasters/notesMaster1.xml" Id="R6f1f4af2e38a4c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7182fb5fd045a1" /><Relationship Type="http://schemas.openxmlformats.org/officeDocument/2006/relationships/notesMaster" Target="/ppt/notesMasters/notesMaster1.xml" Id="R967febb2840048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6cf7c37bbf441f" /><Relationship Type="http://schemas.openxmlformats.org/officeDocument/2006/relationships/notesMaster" Target="/ppt/notesMasters/notesMaster1.xml" Id="Rfbd048807bd849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a0aa32c09a4353" /><Relationship Type="http://schemas.openxmlformats.org/officeDocument/2006/relationships/notesMaster" Target="/ppt/notesMasters/notesMaster1.xml" Id="Rd58cafbfe9244b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0:00–0:35</a:t>
            </a:r>
          </a:p>
          <a:p xmlns:a="http://schemas.openxmlformats.org/drawingml/2006/main">
            <a:r>
              <a:t>Open with the claim, then make it concrete: a page is simultaneously a visual object and a machine-readable object.</a:t>
            </a:r>
          </a:p>
          <a:p xmlns:a="http://schemas.openxmlformats.org/drawingml/2006/main">
            <a:r>
              <a:t>Lens is an opinionated object because it takes a side: machine access should be explicit, inspectable, and attributable.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https://aadhar.sh/lens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0:35–1:05</a:t>
            </a:r>
          </a:p>
          <a:p xmlns:a="http://schemas.openxmlformats.org/drawingml/2006/main">
            <a:r>
              <a:t>Ask for exactly one site. Repeat the URL aloud while entering it.</a:t>
            </a:r>
          </a:p>
          <a:p xmlns:a="http://schemas.openxmlformats.org/drawingml/2006/main">
            <a:r>
              <a:t>Do not apologize if it blocks framing, bots, or rendering. Say: refusal is evidence too.</a:t>
            </a:r>
          </a:p>
          <a:p xmlns:a="http://schemas.openxmlformats.org/drawingml/2006/main">
            <a:r>
              <a:t>If the room stalls, use aadhar.sh. If network or live execution fails, continue to the next slide without explaining the machinery.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https://aadhar.sh/lens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1:05–2:10</a:t>
            </a:r>
          </a:p>
          <a:p xmlns:a="http://schemas.openxmlformats.org/drawingml/2006/main">
            <a:r>
              <a:t>This is the live-demo backup frame. Point left to right: what a person sees, what an identified HTTP client receives, and what survives after JavaScript runs.</a:t>
            </a:r>
          </a:p>
          <a:p xmlns:a="http://schemas.openxmlformats.org/drawingml/2006/main">
            <a:r>
              <a:t>Ask the audience to predict whether the machine version is smaller, cleaner, or more permissive before revealing the panes.</a:t>
            </a:r>
          </a:p>
          <a:p xmlns:a="http://schemas.openxmlformats.org/drawingml/2006/main">
            <a:r>
              <a:t>The point is not that one renderer is correct. The disagreement is the object.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https://aadhar.sh/lens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2:10–3:00</a:t>
            </a:r>
          </a:p>
          <a:p xmlns:a="http://schemas.openxmlformats.org/drawingml/2006/main">
            <a:r>
              <a:t>The early semantic-web wager was that publishers could describe meaning in machine-readable form.</a:t>
            </a:r>
          </a:p>
          <a:p xmlns:a="http://schemas.openxmlformats.org/drawingml/2006/main">
            <a:r>
              <a:t>The current agent web often recovers meaning after the fact from interfaces built for eyes.</a:t>
            </a:r>
          </a:p>
          <a:p xmlns:a="http://schemas.openxmlformats.org/drawingml/2006/main">
            <a:r>
              <a:t>The future question is more demanding: what may a machine do, for whom, under which terms, and with what proof?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https://www.w3.org/2001/sw/</a:t>
            </a:r>
          </a:p>
          <a:p xmlns:a="http://schemas.openxmlformats.org/drawingml/2006/main">
            <a:r>
              <a:t>- https://blog.cloudflare.com/agent-readiness/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3:00–4:15</a:t>
            </a:r>
          </a:p>
          <a:p xmlns:a="http://schemas.openxmlformats.org/drawingml/2006/main">
            <a:r>
              <a:t>This is the criticism-preemption slide. The Cloudflare score is one input, not the product.</a:t>
            </a:r>
          </a:p>
          <a:p xmlns:a="http://schemas.openxmlformats.org/drawingml/2006/main">
            <a:r>
              <a:t>Lens adds an observed field score, and Defuddle provides an independent extraction whose output Lens evaluates with four published binary checks.</a:t>
            </a:r>
          </a:p>
          <a:p xmlns:a="http://schemas.openxmlformats.org/drawingml/2006/main">
            <a:r>
              <a:t>Each source gets exactly one third. If any source fails, the result says unfinished instead of silently moving the goalposts.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https://blog.cloudflare.com/agent-readiness/</a:t>
            </a:r>
          </a:p>
          <a:p xmlns:a="http://schemas.openxmlformats.org/drawingml/2006/main">
            <a:r>
              <a:t>- https://isitagentready.com/</a:t>
            </a:r>
          </a:p>
          <a:p xmlns:a="http://schemas.openxmlformats.org/drawingml/2006/main">
            <a:r>
              <a:t>- https://github.com/kepano/defuddle</a:t>
            </a:r>
          </a:p>
          <a:p xmlns:a="http://schemas.openxmlformats.org/drawingml/2006/main">
            <a:r>
              <a:t>- https://aadhar.sh/lens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4:15–5:10</a:t>
            </a:r>
          </a:p>
          <a:p xmlns:a="http://schemas.openxmlformats.org/drawingml/2006/main">
            <a:r>
              <a:t>Cloudflare measures declared readiness. Lens measures observed behavior. Defuddle gives us a separate content-recovery result.</a:t>
            </a:r>
          </a:p>
          <a:p xmlns:a="http://schemas.openxmlformats.org/drawingml/2006/main">
            <a:r>
              <a:t>A disagreement is more interesting than a perfect score: it tells the publisher where standards, enforcement, and actual legibility diverge.</a:t>
            </a:r>
          </a:p>
          <a:p xmlns:a="http://schemas.openxmlformats.org/drawingml/2006/main">
            <a:r>
              <a:t>The aggregate is a summary. Every component remains visible and falsifiable below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https://blog.cloudflare.com/agent-readiness/</a:t>
            </a:r>
          </a:p>
          <a:p xmlns:a="http://schemas.openxmlformats.org/drawingml/2006/main">
            <a:r>
              <a:t>- https://github.com/kepano/defuddle</a:t>
            </a:r>
          </a:p>
          <a:p xmlns:a="http://schemas.openxmlformats.org/drawingml/2006/main">
            <a:r>
              <a:t>- https://aadhar.sh/lens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5:10–6:00</a:t>
            </a:r>
          </a:p>
          <a:p xmlns:a="http://schemas.openxmlformats.org/drawingml/2006/main">
            <a:r>
              <a:t>Return to the event prompt: this object expresses a view from somewhere. It believes access should be explicit, evidence-backed, and legible to both sides.</a:t>
            </a:r>
          </a:p>
          <a:p xmlns:a="http://schemas.openxmlformats.org/drawingml/2006/main">
            <a:r>
              <a:t>Invite questions about the score, the fetch identity, refusal as evidence, or what publishers might expose next.</a:t>
            </a:r>
          </a:p>
          <a:p xmlns:a="http://schemas.openxmlformats.org/drawingml/2006/main">
            <a:r>
              <a:t>If the live site failed, end here without apology: the static proof has already shown the interaction and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https://aadhar.sh/lens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eab7f0c02143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1b08a24efd4f99" /><Relationship Type="http://schemas.openxmlformats.org/officeDocument/2006/relationships/slideLayout" Target="/ppt/slideLayouts/slideLayout1.xml" Id="R06a34af3ba424e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a34af3ba424e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a2897c026455e" /><Relationship Type="http://schemas.openxmlformats.org/officeDocument/2006/relationships/notesSlide" Target="/ppt/notesSlides/notesSlide1.xml" Id="Re7b1bc9ef5774c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592e9b914430a" /><Relationship Type="http://schemas.openxmlformats.org/officeDocument/2006/relationships/notesSlide" Target="/ppt/notesSlides/notesSlide2.xml" Id="R31a69c7ad56a4d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ad73f0d7b4e25" /><Relationship Type="http://schemas.openxmlformats.org/officeDocument/2006/relationships/image" Target="/ppt/media/image.jpeg" Id="Rb4d0512781fc464a" /><Relationship Type="http://schemas.openxmlformats.org/officeDocument/2006/relationships/notesSlide" Target="/ppt/notesSlides/notesSlide3.xml" Id="R45037926509f45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603ce62db4cf3" /><Relationship Type="http://schemas.openxmlformats.org/officeDocument/2006/relationships/notesSlide" Target="/ppt/notesSlides/notesSlide4.xml" Id="R68cad197c03a4e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75143443a4519" /><Relationship Type="http://schemas.openxmlformats.org/officeDocument/2006/relationships/image" Target="/ppt/media/image2.jpeg" Id="R9ba08a30ef634f6e" /><Relationship Type="http://schemas.openxmlformats.org/officeDocument/2006/relationships/notesSlide" Target="/ppt/notesSlides/notesSlide5.xml" Id="Re2f8d6cafbb447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66993241c4ffe" /><Relationship Type="http://schemas.openxmlformats.org/officeDocument/2006/relationships/notesSlide" Target="/ppt/notesSlides/notesSlide6.xml" Id="R8070305890574f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b581c25ad43b9" /><Relationship Type="http://schemas.openxmlformats.org/officeDocument/2006/relationships/notesSlide" Target="/ppt/notesSlides/notesSlide7.xml" Id="Reaf55430c4f546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CBA24-18A1-4871-97C5-4D4A541A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163A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3A9A"/>
                </a:solidFill>
                <a:latin typeface="Helvetica Neue"/>
                <a:ea typeface="Helvetica Neue"/>
                <a:cs typeface="Helvetica Neue"/>
              </a:rPr>
              <a:t>OPINIONATED OBJECTS · AADHAR.SH/LENS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1BA8D-BD75-4EF0-A427-4683F4C6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E6FB5-B740-4989-B1E2-F0C639F3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6D6"/>
          </a:solidFill>
          <a:ln xmlns:a="http://schemas.openxmlformats.org/drawingml/2006/main" w="0">
            <a:solidFill>
              <a:srgbClr val="2456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5FA25-11F3-49D0-9C84-243F0352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78105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5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Every page has</a:t>
            </a:r>
          </a:p>
          <a:p xmlns:a="http://schemas.openxmlformats.org/drawingml/2006/main">
            <a:pPr>
              <a:lnSpc>
                <a:spcPct val="95000"/>
              </a:lnSpc>
              <a:buNone/>
              <a:defRPr sz="5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two audiences.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03AEC-D5FC-4D0A-BF44-B206A628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59E38-7A08-49BA-AAF7-55AF0C66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4476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>
                <a:solidFill>
                  <a:srgbClr val="163A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63A9A"/>
                </a:solidFill>
                <a:latin typeface="Helvetica Neue"/>
                <a:ea typeface="Helvetica Neue"/>
                <a:cs typeface="Helvetica Neue"/>
              </a:rPr>
              <a:t>the person looking at 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C0361-1ACC-4388-BFAD-7B5B921D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00500"/>
            <a:ext cx="5810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>
                <a:solidFill>
                  <a:srgbClr val="0A78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A788A"/>
                </a:solidFill>
                <a:latin typeface="Helvetica Neue"/>
                <a:ea typeface="Helvetica Neue"/>
                <a:cs typeface="Helvetica Neue"/>
              </a:rPr>
              <a:t>the machine reading over their shoulder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34E64-56D0-451B-BAAA-A3E61395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7620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Lens makes the disagreement visible.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FD8E8-2371-4C68-AA5B-57A68C93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197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>
                <a:solidFill>
                  <a:srgbClr val="60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606878"/>
                </a:solidFill>
                <a:latin typeface="Helvetica Neue"/>
                <a:ea typeface="Helvetica Neue"/>
                <a:cs typeface="Helvetica Neue"/>
              </a:rPr>
              <a:t>6 MINUTES · LIVE + OFFLINE BACKUP</a:t>
            </a:r>
          </a:p>
        </p:txBody>
      </p:sp>
    </p:spTree>
    <p:extLst>
      <p:ext uri="{BB962C8B-B14F-4D97-AF65-F5344CB8AC3E}">
        <p14:creationId xmlns:p14="http://schemas.microsoft.com/office/powerpoint/2010/main" val="10996202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4ED677-D142-44CB-BF2D-B132A2B5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163A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3A9A"/>
                </a:solidFill>
                <a:latin typeface="Helvetica Neue"/>
                <a:ea typeface="Helvetica Neue"/>
                <a:cs typeface="Helvetica Neue"/>
              </a:rPr>
              <a:t>THE OTHER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253E9-A6A0-4613-BE6B-668A7B57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3F7D5-D90C-4FBA-B416-FE1E2C2F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6D6"/>
          </a:solidFill>
          <a:ln xmlns:a="http://schemas.openxmlformats.org/drawingml/2006/main" w="0">
            <a:solidFill>
              <a:srgbClr val="2456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2E4E0-7835-462B-97B2-6165679A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87630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4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Give me a website.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4DC8D-8829-4917-92DF-7993DFF7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7620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>
                <a:solidFill>
                  <a:srgbClr val="60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606878"/>
                </a:solidFill>
                <a:latin typeface="Helvetica Neue"/>
                <a:ea typeface="Helvetica Neue"/>
                <a:cs typeface="Helvetica Neue"/>
              </a:rPr>
              <a:t>One you actually 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4AF44-7010-43D5-A079-24CE3373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1104900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31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32360-E013-469E-BAB6-839E2831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333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>
                <a:solidFill>
                  <a:srgbClr val="606878"/>
                </a:solidFill>
                <a:latin typeface="Courier New"/>
                <a:ea typeface="Courier New"/>
                <a:cs typeface="Courier New"/>
              </a:defRPr>
            </a:pPr>
            <a:r>
              <a:rPr sz="1875">
                <a:solidFill>
                  <a:srgbClr val="606878"/>
                </a:solidFill>
                <a:latin typeface="Courier New"/>
                <a:ea typeface="Courier New"/>
                <a:cs typeface="Courier New"/>
              </a:rPr>
              <a:t>https://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373C3-956A-404A-98BB-EF3013ED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105150"/>
            <a:ext cx="7429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>
                <a:solidFill>
                  <a:srgbClr val="111318"/>
                </a:solidFill>
                <a:latin typeface="Courier New"/>
                <a:ea typeface="Courier New"/>
                <a:cs typeface="Courier New"/>
              </a:defRPr>
            </a:pPr>
            <a:r>
              <a:rPr sz="1875">
                <a:solidFill>
                  <a:srgbClr val="111318"/>
                </a:solidFill>
                <a:latin typeface="Courier New"/>
                <a:ea typeface="Courier New"/>
                <a:cs typeface="Courier New"/>
              </a:rPr>
              <a:t>your answer goes here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BEC80-AB6F-4073-A943-C4AEC48A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00375"/>
            <a:ext cx="133350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2456D6"/>
          </a:solidFill>
          <a:ln xmlns:a="http://schemas.openxmlformats.org/drawingml/2006/main" w="9525">
            <a:solidFill>
              <a:srgbClr val="163A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EAAEC-3F31-4AA9-B7AB-677BA943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EAF00-39F7-488F-A7C3-D28EE31A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266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C7C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4168B8-B7BD-4059-89A0-84932CCC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2362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63A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3A9A"/>
                </a:solidFill>
                <a:latin typeface="Helvetica Neue"/>
                <a:ea typeface="Helvetica Neue"/>
                <a:cs typeface="Helvetica Neue"/>
              </a:rPr>
              <a:t>a local publication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2E00A-EC59-40E1-9C77-0C0DB5F4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95750"/>
            <a:ext cx="266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C7CE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CBF7B-219E-42AB-B128-0E5CDE41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48150"/>
            <a:ext cx="2362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63A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3A9A"/>
                </a:solidFill>
                <a:latin typeface="Helvetica Neue"/>
                <a:ea typeface="Helvetica Neue"/>
                <a:cs typeface="Helvetica Neue"/>
              </a:rPr>
              <a:t>a favorite blog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ADB4F-C35E-4AC1-9DEA-F2F0AE09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266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C7CE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4505B-D6DD-4AD1-B65E-BC3AD7EA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48150"/>
            <a:ext cx="2362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63A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63A9A"/>
                </a:solidFill>
                <a:latin typeface="Helvetica Neue"/>
                <a:ea typeface="Helvetica Neue"/>
                <a:cs typeface="Helvetica Neue"/>
              </a:rPr>
              <a:t>a useful tool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9563EA-7319-4BA2-B579-1E2FC826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9334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If it refuses us, that is part of the measurement.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7BAAF7-488B-4FBA-8BA3-93C0462B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066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>
                <a:solidFill>
                  <a:srgbClr val="606878"/>
                </a:solidFill>
                <a:latin typeface="Courier New"/>
                <a:ea typeface="Courier New"/>
                <a:cs typeface="Courier New"/>
              </a:defRPr>
            </a:pPr>
            <a:r>
              <a:rPr sz="900">
                <a:solidFill>
                  <a:srgbClr val="606878"/>
                </a:solidFill>
                <a:latin typeface="Courier New"/>
                <a:ea typeface="Courier New"/>
                <a:cs typeface="Courier New"/>
              </a:rPr>
              <a:t>BACKUPS: aadhar.sh · stripe.com · en.wikipedia.org/wiki/Semantic_Web</a:t>
            </a:r>
          </a:p>
        </p:txBody>
      </p:sp>
    </p:spTree>
    <p:extLst>
      <p:ext uri="{BB962C8B-B14F-4D97-AF65-F5344CB8AC3E}">
        <p14:creationId xmlns:p14="http://schemas.microsoft.com/office/powerpoint/2010/main" val="7711384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300364-39A0-4D5B-AEE6-EBA8A80D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163A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3A9A"/>
                </a:solidFill>
                <a:latin typeface="Helvetica Neue"/>
                <a:ea typeface="Helvetica Neue"/>
                <a:cs typeface="Helvetica Neue"/>
              </a:rPr>
              <a:t>THE OTHER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44BDA-730F-46BC-BE87-D361D222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85EF5-5233-4456-94AF-B4279CF0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6D6"/>
          </a:solidFill>
          <a:ln xmlns:a="http://schemas.openxmlformats.org/drawingml/2006/main" w="0">
            <a:solidFill>
              <a:srgbClr val="2456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F79E3-CDD1-4BFB-8AB6-0DD7878E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723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1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One URL. Three readers.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ACFE6-01D8-4B9A-BBCB-4F1B3DAF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914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>
                <a:solidFill>
                  <a:srgbClr val="606878"/>
                </a:solidFill>
                <a:latin typeface="Courier New"/>
                <a:ea typeface="Courier New"/>
                <a:cs typeface="Courier New"/>
              </a:defRPr>
            </a:pPr>
            <a:r>
              <a:rPr sz="1500">
                <a:solidFill>
                  <a:srgbClr val="606878"/>
                </a:solidFill>
                <a:latin typeface="Courier New"/>
                <a:ea typeface="Courier New"/>
                <a:cs typeface="Courier New"/>
              </a:rPr>
              <a:t>human page  ·  HTTP response  ·  rendered browser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B2F41-4E52-4092-AB2A-97C42916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1163300" cy="4610100"/>
          </a:xfrm>
          <a:prstGeom xmlns:a="http://schemas.openxmlformats.org/drawingml/2006/main" prst="roundRect">
            <a:avLst>
              <a:gd name="adj" fmla="val 1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EDA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0512781fc464a"/>
          <a:srcRect xmlns:a="http://schemas.openxmlformats.org/drawingml/2006/main" l="0" t="16657" r="0" b="166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809750"/>
            <a:ext cx="11049000" cy="4495800"/>
          </a:xfrm>
          <a:prstGeom xmlns:a="http://schemas.openxmlformats.org/drawingml/2006/main" prst="roundRect">
            <a:avLst>
              <a:gd name="adj" fmla="val 424"/>
            </a:avLst>
          </a:prstGeom>
        </p:spPr>
      </p:pic>
    </p:spTree>
    <p:extLst>
      <p:ext uri="{BB962C8B-B14F-4D97-AF65-F5344CB8AC3E}">
        <p14:creationId xmlns:p14="http://schemas.microsoft.com/office/powerpoint/2010/main" val="665648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690D83-C650-484C-9E13-38C8CEDF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163A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3A9A"/>
                </a:solidFill>
                <a:latin typeface="Helvetica Neue"/>
                <a:ea typeface="Helvetica Neue"/>
                <a:cs typeface="Helvetica Neue"/>
              </a:rPr>
              <a:t>THE OTHER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934D3-9A65-49C3-95C0-A01ED9CD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43857-6B68-47B1-8030-5318ADAF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6D6"/>
          </a:solidFill>
          <a:ln xmlns:a="http://schemas.openxmlformats.org/drawingml/2006/main" w="0">
            <a:solidFill>
              <a:srgbClr val="2456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D07D1-6EA3-47A5-990C-2F78FC50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10001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The web keeps changing its answer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32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to “what is this page for?”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1D7D0-9065-4903-93B7-FF000247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3476625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C7CE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989D4-E34E-4B36-BF36-14930CB0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47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163A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3A9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099D1-2AB1-4F81-953B-B544376A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63A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3A9A"/>
                </a:solidFill>
                <a:latin typeface="Helvetica Neue"/>
                <a:ea typeface="Helvetica Neue"/>
                <a:cs typeface="Helvetica Neue"/>
              </a:rPr>
              <a:t>PAST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B2B43-2E0C-4583-8644-29087994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2952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describe meaning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23682C-DCA0-478C-88A6-C168F39B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2952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5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rPr>
              <a:t>semantic HTML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5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rPr>
              <a:t>RDF + linked data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5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rPr>
              <a:t>microformats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30C04-3C5A-4AF2-9D72-5F9DACEE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3476625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C7CE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B9FC79-F308-411A-A09B-48326184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609850"/>
            <a:ext cx="47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073D7-5CBA-40D7-8046-57039728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028950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PRESENT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E54DCC-D99D-4696-BC6F-467FC752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476625"/>
            <a:ext cx="2952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scrape presentation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E24CAD-6E78-462E-B7D5-8D8B37ED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476750"/>
            <a:ext cx="2952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5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rPr>
              <a:t>HTML + JavaScript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5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rPr>
              <a:t>robots + terms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5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rPr>
              <a:t>expensive cleanup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E47E0-AEC1-4117-A099-73F759C6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476625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5F7F8"/>
          </a:solidFill>
          <a:ln xmlns:a="http://schemas.openxmlformats.org/drawingml/2006/main" w="9525">
            <a:solidFill>
              <a:srgbClr val="C7CE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42E0A7-B59D-4DF3-8AF4-A0BC713C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09850"/>
            <a:ext cx="47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0A78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A788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6131A5-C9AB-4D71-8D8B-757637CA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28950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0A78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A788A"/>
                </a:solidFill>
                <a:latin typeface="Helvetica Neue"/>
                <a:ea typeface="Helvetica Neue"/>
                <a:cs typeface="Helvetica Neue"/>
              </a:rPr>
              <a:t>FUTURE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8A4903-3A69-434C-9D06-AF6143E5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76625"/>
            <a:ext cx="2952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negotiate 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DBA6B3-0125-4873-AFDD-E8993F51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76750"/>
            <a:ext cx="2952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5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rPr>
              <a:t>tools + permissions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5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rPr>
              <a:t>auth + payment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5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rPr>
              <a:t>intent + provenance</a:t>
            </a:r>
          </a:p>
        </p:txBody>
      </p:sp>
    </p:spTree>
    <p:extLst>
      <p:ext uri="{BB962C8B-B14F-4D97-AF65-F5344CB8AC3E}">
        <p14:creationId xmlns:p14="http://schemas.microsoft.com/office/powerpoint/2010/main" val="9305140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B27BB5-F7E1-4D74-9446-5F22F4C9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163A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3A9A"/>
                </a:solidFill>
                <a:latin typeface="Helvetica Neue"/>
                <a:ea typeface="Helvetica Neue"/>
                <a:cs typeface="Helvetica Neue"/>
              </a:rPr>
              <a:t>THE OTHER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20137-AA6B-4D28-95CA-2EBCBDF8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C9B47-BA48-4D02-A5A7-318149B4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6D6"/>
          </a:solidFill>
          <a:ln xmlns:a="http://schemas.openxmlformats.org/drawingml/2006/main" w="0">
            <a:solidFill>
              <a:srgbClr val="2456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154A6-8230-4D7C-9EE4-F1386C81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8953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1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A useful score must expose its opinion.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50F89-4D7C-4AE5-A495-ABABC561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895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>
                <a:solidFill>
                  <a:srgbClr val="60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606878"/>
                </a:solidFill>
                <a:latin typeface="Helvetica Neue"/>
                <a:ea typeface="Helvetica Neue"/>
                <a:cs typeface="Helvetica Neue"/>
              </a:rPr>
              <a:t>No hidden reweighting. No single vendor as oracle.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BDC8F-13B5-4EA6-A741-C3F0C751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0225"/>
            <a:ext cx="6781800" cy="4400550"/>
          </a:xfrm>
          <a:prstGeom xmlns:a="http://schemas.openxmlformats.org/drawingml/2006/main" prst="roundRect">
            <a:avLst>
              <a:gd name="adj" fmla="val 1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EDA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08a30ef634f6e"/>
          <a:srcRect xmlns:a="http://schemas.openxmlformats.org/drawingml/2006/main" l="2542" t="0" r="25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857375"/>
            <a:ext cx="6667500" cy="4286250"/>
          </a:xfrm>
          <a:prstGeom xmlns:a="http://schemas.openxmlformats.org/drawingml/2006/main" prst="roundRect">
            <a:avLst>
              <a:gd name="adj" fmla="val 44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78430-39AE-47C1-B9EB-DB49409C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47875"/>
            <a:ext cx="2952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450" b="1">
                <a:solidFill>
                  <a:srgbClr val="163A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6450" b="1">
                <a:solidFill>
                  <a:srgbClr val="163A9A"/>
                </a:solidFill>
                <a:latin typeface="Helvetica Neue"/>
                <a:ea typeface="Helvetica Neue"/>
                <a:cs typeface="Helvetica Neue"/>
              </a:rPr>
              <a:t>100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F5278-04E5-4814-8AC1-F6A70B79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60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06878"/>
                </a:solidFill>
                <a:latin typeface="Helvetica Neue"/>
                <a:ea typeface="Helvetica Neue"/>
                <a:cs typeface="Helvetica Neue"/>
              </a:rPr>
              <a:t>COMPOSITE AGENT ACCESS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CA740-7EE0-44DC-987F-27498A55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19500"/>
            <a:ext cx="3429000" cy="4381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C7CE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B2C29-192D-4E5B-89C1-5E5BC0BD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43325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Cloudflare standards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D150F-400F-4252-BBA6-FBD0AB60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14750"/>
            <a:ext cx="590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2471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4713C"/>
                </a:solidFill>
                <a:latin typeface="Helvetica Neue"/>
                <a:ea typeface="Helvetica Neue"/>
                <a:cs typeface="Helvetica Neue"/>
              </a:rPr>
              <a:t>100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292463-8B8B-4E60-AB6F-E57B8B9A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71950"/>
            <a:ext cx="3429000" cy="4381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C7CE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299C4D-24C4-47D0-95F1-A043FB8B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95775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Lens field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E8BB7F-9CC8-4008-A924-2CAFAF87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267200"/>
            <a:ext cx="590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2471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4713C"/>
                </a:solidFill>
                <a:latin typeface="Helvetica Neue"/>
                <a:ea typeface="Helvetica Neue"/>
                <a:cs typeface="Helvetica Neue"/>
              </a:rPr>
              <a:t>100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6B2080-A8E7-4383-B0E3-B995F042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24400"/>
            <a:ext cx="3429000" cy="4381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5F7F8"/>
          </a:solidFill>
          <a:ln xmlns:a="http://schemas.openxmlformats.org/drawingml/2006/main" w="9525">
            <a:solidFill>
              <a:srgbClr val="C7CE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360E4-9488-4BE2-86A5-AFC05C1A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48225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Defuddle recovery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64ACFE-2970-48CF-89BC-2C52D9C1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819650"/>
            <a:ext cx="590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2471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4713C"/>
                </a:solidFill>
                <a:latin typeface="Helvetica Neue"/>
                <a:ea typeface="Helvetica Neue"/>
                <a:cs typeface="Helvetica Neue"/>
              </a:rPr>
              <a:t>100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CD62BB-98A8-4571-B861-39C04AD1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476875"/>
            <a:ext cx="3429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>
                <a:solidFill>
                  <a:srgbClr val="606878"/>
                </a:solidFill>
                <a:latin typeface="Courier New"/>
                <a:ea typeface="Courier New"/>
                <a:cs typeface="Courier New"/>
              </a:defRPr>
            </a:pPr>
            <a:r>
              <a:rPr sz="1200">
                <a:solidFill>
                  <a:srgbClr val="606878"/>
                </a:solidFill>
                <a:latin typeface="Courier New"/>
                <a:ea typeface="Courier New"/>
                <a:cs typeface="Courier New"/>
              </a:rPr>
              <a:t>equal thirds  ·  missing input = unfinished</a:t>
            </a:r>
          </a:p>
        </p:txBody>
      </p:sp>
    </p:spTree>
    <p:extLst>
      <p:ext uri="{BB962C8B-B14F-4D97-AF65-F5344CB8AC3E}">
        <p14:creationId xmlns:p14="http://schemas.microsoft.com/office/powerpoint/2010/main" val="13131475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AE1F32-D752-4C2D-8BDA-8BF57832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163A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3A9A"/>
                </a:solidFill>
                <a:latin typeface="Helvetica Neue"/>
                <a:ea typeface="Helvetica Neue"/>
                <a:cs typeface="Helvetica Neue"/>
              </a:rPr>
              <a:t>THE OTHER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2E95C-A9B7-4A88-AC4C-1FE1FFA2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8A521-1299-4315-A403-3104B537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6D6"/>
          </a:solidFill>
          <a:ln xmlns:a="http://schemas.openxmlformats.org/drawingml/2006/main" w="0">
            <a:solidFill>
              <a:srgbClr val="2456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01558-DAD4-42A0-A301-D3BE2557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6286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6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Not a wrapper.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6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A disagreement detector.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AC8E9-55A0-4F09-B251-73366E17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8001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C7CE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8D20A-988A-4328-952C-77E13AB2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90825"/>
            <a:ext cx="161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>
                <a:solidFill>
                  <a:srgbClr val="163A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3A9A"/>
                </a:solidFill>
                <a:latin typeface="Helvetica Neue"/>
                <a:ea typeface="Helvetica Neue"/>
                <a:cs typeface="Helvetica Neue"/>
              </a:rPr>
              <a:t>STANDARDS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41D21A-6F7B-45FE-B272-2E51805A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71775"/>
            <a:ext cx="8477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Did the publisher declare machine interfaces?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331D0-ECA6-47E3-AFA2-0B5990B5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29025"/>
            <a:ext cx="11049000" cy="8001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C7C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6468E4-1598-49D7-AB62-9B596C29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00475"/>
            <a:ext cx="161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0E169-12ED-4DD6-A38B-F5F128F3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81425"/>
            <a:ext cx="8477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What happened when identified bots actually tried?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2DC2F8-CBF8-4067-B40E-7BB335C3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38675"/>
            <a:ext cx="11049000" cy="8001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E5F7F8"/>
          </a:solidFill>
          <a:ln xmlns:a="http://schemas.openxmlformats.org/drawingml/2006/main" w="9525">
            <a:solidFill>
              <a:srgbClr val="C7C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65CC2-1B1D-425C-A65A-B9B043BB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161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>
                <a:solidFill>
                  <a:srgbClr val="0A78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A788A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1512F-028C-4507-BB68-2F63CE24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91075"/>
            <a:ext cx="8477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Did the response resolve into useful content?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D32A7-24BE-402E-B25A-2C80FCE0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1057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The score is the compact view. The evidence remains inspectable.</a:t>
            </a:r>
          </a:p>
        </p:txBody>
      </p:sp>
    </p:spTree>
    <p:extLst>
      <p:ext uri="{BB962C8B-B14F-4D97-AF65-F5344CB8AC3E}">
        <p14:creationId xmlns:p14="http://schemas.microsoft.com/office/powerpoint/2010/main" val="16663357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AAD6F-6C2D-401C-9FB1-B04C32D8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163A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3A9A"/>
                </a:solidFill>
                <a:latin typeface="Helvetica Neue"/>
                <a:ea typeface="Helvetica Neue"/>
                <a:cs typeface="Helvetica Neue"/>
              </a:rPr>
              <a:t>THE OTHER WEB · AADHAR.SH/LENS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E6DD4-9BBC-49AD-94C5-807BFEE2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06878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C9A3A-7B6F-48EB-8705-79007451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6D6"/>
          </a:solidFill>
          <a:ln xmlns:a="http://schemas.openxmlformats.org/drawingml/2006/main" w="0">
            <a:solidFill>
              <a:srgbClr val="2456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4FF5C-5341-4811-9A79-3ADAA602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9906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Machine legibility</a:t>
            </a:r>
          </a:p>
          <a:p xmlns:a="http://schemas.openxmlformats.org/drawingml/2006/main">
            <a:pPr>
              <a:lnSpc>
                <a:spcPct val="96000"/>
              </a:lnSpc>
              <a:buNone/>
              <a:defRPr sz="4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is a design choice.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2D7D3-5FBC-4194-8F4F-A3B57E00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83820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550">
                <a:solidFill>
                  <a:srgbClr val="60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>
                <a:solidFill>
                  <a:srgbClr val="606878"/>
                </a:solidFill>
                <a:latin typeface="Helvetica Neue"/>
                <a:ea typeface="Helvetica Neue"/>
                <a:cs typeface="Helvetica Neue"/>
              </a:rPr>
              <a:t>What view does your object express—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550">
                <a:solidFill>
                  <a:srgbClr val="60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>
                <a:solidFill>
                  <a:srgbClr val="606878"/>
                </a:solidFill>
                <a:latin typeface="Helvetica Neue"/>
                <a:ea typeface="Helvetica Neue"/>
                <a:cs typeface="Helvetica Neue"/>
              </a:rPr>
              <a:t>and who is allowed to act on it?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F372D-E97E-48BA-B5CB-AE9C7149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2456D6"/>
          </a:solidFill>
          <a:ln xmlns:a="http://schemas.openxmlformats.org/drawingml/2006/main" w="9525">
            <a:solidFill>
              <a:srgbClr val="163A9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1DA79-772D-4072-92CA-F6C3E6BB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aadhar.sh/lens</a:t>
            </a:r>
          </a:p>
        </p:txBody>
      </p:sp>
    </p:spTree>
    <p:extLst>
      <p:ext uri="{BB962C8B-B14F-4D97-AF65-F5344CB8AC3E}">
        <p14:creationId xmlns:p14="http://schemas.microsoft.com/office/powerpoint/2010/main" val="3910357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2026-08-11T14:56:48.4400000Z</dcterms:created>
  <dcterms:modified xsi:type="dcterms:W3CDTF">2026-08-11T14:56:48.4400000Z</dcterms:modified>
</coreProperties>
</file>